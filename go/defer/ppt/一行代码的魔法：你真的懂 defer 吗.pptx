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8"/>
  </p:handoutMasterIdLst>
  <p:sldIdLst>
    <p:sldId id="256" r:id="rId3"/>
    <p:sldId id="321" r:id="rId4"/>
    <p:sldId id="280" r:id="rId5"/>
    <p:sldId id="334" r:id="rId7"/>
    <p:sldId id="281" r:id="rId8"/>
    <p:sldId id="316" r:id="rId9"/>
    <p:sldId id="302" r:id="rId10"/>
    <p:sldId id="283" r:id="rId11"/>
    <p:sldId id="304" r:id="rId12"/>
    <p:sldId id="292" r:id="rId13"/>
    <p:sldId id="318" r:id="rId14"/>
    <p:sldId id="327" r:id="rId15"/>
    <p:sldId id="328" r:id="rId16"/>
    <p:sldId id="322" r:id="rId17"/>
    <p:sldId id="309" r:id="rId18"/>
    <p:sldId id="295" r:id="rId19"/>
    <p:sldId id="296" r:id="rId20"/>
    <p:sldId id="305" r:id="rId21"/>
    <p:sldId id="329" r:id="rId22"/>
    <p:sldId id="330" r:id="rId23"/>
    <p:sldId id="331" r:id="rId24"/>
    <p:sldId id="332" r:id="rId25"/>
    <p:sldId id="333" r:id="rId26"/>
    <p:sldId id="306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6" userDrawn="1">
          <p15:clr>
            <a:srgbClr val="A4A3A4"/>
          </p15:clr>
        </p15:guide>
        <p15:guide id="2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FDF"/>
    <a:srgbClr val="52B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6"/>
        <p:guide pos="39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Go</a:t>
            </a:r>
            <a:r>
              <a:rPr lang="zh-CN" altLang="en-US"/>
              <a:t>语言设计初期</a:t>
            </a:r>
            <a:r>
              <a:rPr lang="en-US" altLang="zh-CN"/>
              <a:t>,</a:t>
            </a:r>
            <a:r>
              <a:rPr lang="zh-CN" altLang="en-US"/>
              <a:t>他的设计者在邮件中说</a:t>
            </a:r>
            <a:r>
              <a:rPr lang="en-US" altLang="zh-CN"/>
              <a:t>:  </a:t>
            </a:r>
            <a:r>
              <a:rPr lang="zh-CN" altLang="en-US"/>
              <a:t>我们需要一种机制来确保清理操作一定会执行</a:t>
            </a:r>
            <a:r>
              <a:rPr lang="en-US" altLang="zh-CN"/>
              <a:t>,</a:t>
            </a:r>
            <a:r>
              <a:rPr lang="zh-CN" altLang="en-US"/>
              <a:t>即使发生错误也不例外</a:t>
            </a:r>
            <a:r>
              <a:rPr lang="en-US" altLang="zh-CN"/>
              <a:t>,</a:t>
            </a:r>
            <a:r>
              <a:rPr lang="zh-CN" altLang="en-US"/>
              <a:t>而</a:t>
            </a:r>
            <a:r>
              <a:rPr lang="en-US" altLang="zh-CN"/>
              <a:t>defer</a:t>
            </a:r>
            <a:r>
              <a:rPr lang="zh-CN" altLang="en-US"/>
              <a:t>语句正是为此而生的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强调一些延迟函数的定义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第二个</a:t>
            </a:r>
            <a:r>
              <a:rPr lang="en-US" altLang="zh-CN"/>
              <a:t>:</a:t>
            </a:r>
            <a:r>
              <a:rPr lang="zh-CN" altLang="en-US"/>
              <a:t>属于延迟函数操作主函数的具名返回值</a:t>
            </a:r>
            <a:endParaRPr lang="zh-CN" altLang="en-US"/>
          </a:p>
          <a:p>
            <a:r>
              <a:rPr lang="zh-CN" altLang="en-US"/>
              <a:t>第三个</a:t>
            </a:r>
            <a:r>
              <a:rPr lang="en-US" altLang="zh-CN"/>
              <a:t>:</a:t>
            </a:r>
            <a:r>
              <a:rPr lang="zh-CN" altLang="en-US"/>
              <a:t>具名返回值</a:t>
            </a:r>
            <a:r>
              <a:rPr lang="en-US" altLang="zh-CN"/>
              <a:t>y,</a:t>
            </a:r>
            <a:r>
              <a:rPr lang="zh-CN" altLang="en-US"/>
              <a:t>但是操作的对象是</a:t>
            </a:r>
            <a:r>
              <a:rPr lang="en-US" altLang="zh-CN"/>
              <a:t>x</a:t>
            </a:r>
            <a:endParaRPr lang="zh-CN" altLang="en-US"/>
          </a:p>
          <a:p>
            <a:r>
              <a:rPr lang="zh-CN" altLang="en-US"/>
              <a:t>第四个</a:t>
            </a:r>
            <a:r>
              <a:rPr lang="en-US" altLang="zh-CN"/>
              <a:t>: x</a:t>
            </a:r>
            <a:r>
              <a:rPr lang="zh-CN" altLang="en-US"/>
              <a:t>是作为函数参数的</a:t>
            </a:r>
            <a:r>
              <a:rPr lang="en-US" altLang="zh-CN"/>
              <a:t>,</a:t>
            </a:r>
            <a:r>
              <a:rPr lang="zh-CN" altLang="en-US"/>
              <a:t>符合延迟函数的参数在</a:t>
            </a:r>
            <a:r>
              <a:rPr lang="en-US" altLang="zh-CN"/>
              <a:t>defer</a:t>
            </a:r>
            <a:r>
              <a:rPr lang="zh-CN" altLang="en-US"/>
              <a:t>语句出现前就确定了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这里虽然有</a:t>
            </a:r>
            <a:r>
              <a:rPr lang="en-US" altLang="zh-CN"/>
              <a:t>heap</a:t>
            </a:r>
            <a:r>
              <a:rPr lang="zh-CN" altLang="en-US"/>
              <a:t>这个布尔变量标记是堆</a:t>
            </a:r>
            <a:r>
              <a:rPr lang="en-US" altLang="zh-CN"/>
              <a:t>defer</a:t>
            </a:r>
            <a:r>
              <a:rPr lang="zh-CN" altLang="en-US"/>
              <a:t>还是栈</a:t>
            </a:r>
            <a:r>
              <a:rPr lang="en-US" altLang="zh-CN"/>
              <a:t>defer,</a:t>
            </a:r>
            <a:r>
              <a:rPr lang="zh-CN" altLang="en-US"/>
              <a:t>但是在</a:t>
            </a:r>
            <a:r>
              <a:rPr lang="en-US" altLang="zh-CN"/>
              <a:t>Go</a:t>
            </a:r>
            <a:r>
              <a:rPr lang="zh-CN" altLang="en-US"/>
              <a:t>语言中</a:t>
            </a:r>
            <a:r>
              <a:rPr lang="en-US" altLang="zh-CN"/>
              <a:t>,defer</a:t>
            </a:r>
            <a:r>
              <a:rPr lang="zh-CN" altLang="en-US"/>
              <a:t>并不是通过一个暴露的</a:t>
            </a:r>
            <a:r>
              <a:rPr lang="en-US" altLang="zh-CN"/>
              <a:t>_defer</a:t>
            </a:r>
            <a:r>
              <a:rPr lang="zh-CN" altLang="en-US"/>
              <a:t>结构体直接供开发者访问和操作的</a:t>
            </a:r>
            <a:r>
              <a:rPr lang="en-US" altLang="zh-CN"/>
              <a:t>,</a:t>
            </a:r>
            <a:r>
              <a:rPr lang="zh-CN" altLang="en-US"/>
              <a:t>是</a:t>
            </a:r>
            <a:r>
              <a:rPr lang="en-US" altLang="zh-CN"/>
              <a:t>GO</a:t>
            </a:r>
            <a:r>
              <a:rPr lang="zh-CN" altLang="en-US"/>
              <a:t>语言运行时内部使用的结构</a:t>
            </a:r>
            <a:endParaRPr lang="zh-CN" altLang="en-US"/>
          </a:p>
          <a:p>
            <a:r>
              <a:rPr lang="en-US" altLang="zh-CN">
                <a:sym typeface="+mn-ea"/>
              </a:rPr>
              <a:t>fn</a:t>
            </a:r>
            <a:r>
              <a:rPr lang="zh-CN" altLang="en-US">
                <a:sym typeface="+mn-ea"/>
              </a:rPr>
              <a:t>字段是</a:t>
            </a:r>
            <a:r>
              <a:rPr lang="en-US" altLang="zh-CN">
                <a:sym typeface="+mn-ea"/>
              </a:rPr>
              <a:t>defer</a:t>
            </a:r>
            <a:r>
              <a:rPr lang="zh-CN" altLang="en-US">
                <a:sym typeface="+mn-ea"/>
              </a:rPr>
              <a:t>关键字对应的函数</a:t>
            </a:r>
            <a:endParaRPr lang="zh-CN" altLang="en-US"/>
          </a:p>
          <a:p>
            <a:r>
              <a:rPr lang="en-US" altLang="zh-CN">
                <a:sym typeface="+mn-ea"/>
              </a:rPr>
              <a:t>link</a:t>
            </a:r>
            <a:r>
              <a:rPr lang="zh-CN" altLang="en-US">
                <a:sym typeface="+mn-ea"/>
              </a:rPr>
              <a:t>表示下一链接的</a:t>
            </a:r>
            <a:r>
              <a:rPr lang="en-US" altLang="zh-CN">
                <a:sym typeface="+mn-ea"/>
              </a:rPr>
              <a:t>defer</a:t>
            </a:r>
            <a:endParaRPr lang="en-US" altLang="zh-CN"/>
          </a:p>
          <a:p>
            <a:r>
              <a:rPr lang="en-US" altLang="zh-CN">
                <a:sym typeface="+mn-ea"/>
              </a:rPr>
              <a:t>sp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pc</a:t>
            </a:r>
            <a:r>
              <a:rPr lang="zh-CN" altLang="en-US">
                <a:sym typeface="+mn-ea"/>
              </a:rPr>
              <a:t>记录了调用方的函数信息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用于判断</a:t>
            </a:r>
            <a:r>
              <a:rPr lang="en-US" altLang="zh-CN">
                <a:sym typeface="+mn-ea"/>
              </a:rPr>
              <a:t>defer</a:t>
            </a:r>
            <a:r>
              <a:rPr lang="zh-CN" altLang="en-US">
                <a:sym typeface="+mn-ea"/>
              </a:rPr>
              <a:t>属于哪一个函数</a:t>
            </a:r>
            <a:endParaRPr lang="zh-CN" altLang="en-US">
              <a:sym typeface="+mn-ea"/>
            </a:endParaRPr>
          </a:p>
          <a:p>
            <a:r>
              <a:rPr lang="en-US" altLang="zh-CN"/>
              <a:t>sp</a:t>
            </a:r>
            <a:r>
              <a:rPr lang="zh-CN" altLang="en-US"/>
              <a:t>指向的是一个栈顶</a:t>
            </a:r>
            <a:r>
              <a:rPr lang="en-US" altLang="zh-CN"/>
              <a:t>,pc</a:t>
            </a:r>
            <a:r>
              <a:rPr lang="zh-CN" altLang="en-US"/>
              <a:t>相当于做了一个回退点</a:t>
            </a:r>
            <a:r>
              <a:rPr lang="en-US" altLang="zh-CN"/>
              <a:t>,defer</a:t>
            </a:r>
            <a:r>
              <a:rPr lang="zh-CN" altLang="en-US"/>
              <a:t>之后没有新的</a:t>
            </a:r>
            <a:r>
              <a:rPr lang="en-US" altLang="zh-CN"/>
              <a:t>panic</a:t>
            </a:r>
            <a:r>
              <a:rPr lang="zh-CN" altLang="en-US"/>
              <a:t>发生</a:t>
            </a:r>
            <a:r>
              <a:rPr lang="en-US" altLang="zh-CN"/>
              <a:t>.Go</a:t>
            </a:r>
            <a:r>
              <a:rPr lang="zh-CN" altLang="en-US"/>
              <a:t>运行时会使用之前保存的</a:t>
            </a:r>
            <a:r>
              <a:rPr lang="en-US" altLang="zh-CN"/>
              <a:t>pc</a:t>
            </a:r>
            <a:r>
              <a:rPr lang="zh-CN" altLang="en-US"/>
              <a:t>值来回复执行流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可以讲一下返回值</a:t>
            </a:r>
            <a:endParaRPr lang="zh-CN" altLang="en-US">
              <a:sym typeface="+mn-ea"/>
            </a:endParaRPr>
          </a:p>
          <a:p>
            <a:r>
              <a:rPr lang="en-US" altLang="zh-CN"/>
              <a:t>if r &gt;0  </a:t>
            </a:r>
            <a:r>
              <a:rPr lang="zh-CN" altLang="en-US"/>
              <a:t>表示链表已满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</a:t>
            </a:r>
            <a:r>
              <a:rPr lang="zh-CN" altLang="en-US"/>
              <a:t>链表的读取是动态的</a:t>
            </a:r>
            <a:r>
              <a:rPr lang="en-US" altLang="zh-CN"/>
              <a:t>    </a:t>
            </a:r>
            <a:r>
              <a:rPr lang="zh-CN" altLang="en-US"/>
              <a:t>在链表当中</a:t>
            </a:r>
            <a:r>
              <a:rPr lang="en-US" altLang="zh-CN"/>
              <a:t>,</a:t>
            </a:r>
            <a:r>
              <a:rPr lang="zh-CN" altLang="en-US"/>
              <a:t>节点的地址基本上都是不连续的</a:t>
            </a:r>
            <a:endParaRPr lang="zh-CN" altLang="en-US"/>
          </a:p>
          <a:p>
            <a:r>
              <a:rPr lang="en-US" altLang="zh-CN"/>
              <a:t>deferpool</a:t>
            </a:r>
            <a:r>
              <a:rPr lang="zh-CN" altLang="en-US"/>
              <a:t>放回池中之后并未真正释放内存</a:t>
            </a:r>
            <a:r>
              <a:rPr lang="en-US" altLang="zh-CN"/>
              <a:t>,</a:t>
            </a:r>
            <a:r>
              <a:rPr lang="zh-CN" altLang="en-US"/>
              <a:t>只是暂时闲置</a:t>
            </a:r>
            <a:r>
              <a:rPr lang="en-US" altLang="zh-CN"/>
              <a:t>,</a:t>
            </a:r>
            <a:r>
              <a:rPr lang="zh-CN" altLang="en-US"/>
              <a:t>长时间运行池可能积累大量不再使用的</a:t>
            </a:r>
            <a:r>
              <a:rPr lang="en-US" altLang="zh-CN"/>
              <a:t>defer</a:t>
            </a:r>
            <a:r>
              <a:rPr lang="zh-CN" altLang="en-US"/>
              <a:t>对象</a:t>
            </a:r>
            <a:r>
              <a:rPr lang="en-US" altLang="zh-CN"/>
              <a:t>,</a:t>
            </a:r>
            <a:r>
              <a:rPr lang="zh-CN" altLang="en-US"/>
              <a:t>导致内存回收</a:t>
            </a:r>
            <a:endParaRPr lang="zh-CN" altLang="en-US"/>
          </a:p>
          <a:p>
            <a:r>
              <a:rPr lang="zh-CN" altLang="en-US"/>
              <a:t>引入</a:t>
            </a:r>
            <a:r>
              <a:rPr lang="en-US" altLang="zh-CN"/>
              <a:t>deferpool</a:t>
            </a:r>
            <a:r>
              <a:rPr lang="zh-CN" altLang="en-US"/>
              <a:t>是非常复杂的</a:t>
            </a:r>
            <a:r>
              <a:rPr lang="en-US" altLang="zh-CN"/>
              <a:t>  </a:t>
            </a:r>
            <a:r>
              <a:rPr lang="zh-CN" altLang="en-US"/>
              <a:t>如果只是简单的调用场景并且</a:t>
            </a:r>
            <a:r>
              <a:rPr lang="en-US" altLang="zh-CN"/>
              <a:t>defer</a:t>
            </a:r>
            <a:r>
              <a:rPr lang="zh-CN" altLang="en-US"/>
              <a:t>的规格不一样的时候</a:t>
            </a:r>
            <a:r>
              <a:rPr lang="en-US" altLang="zh-CN"/>
              <a:t>  </a:t>
            </a:r>
            <a:r>
              <a:rPr lang="zh-CN" altLang="en-US"/>
              <a:t>其实是比较复杂的</a:t>
            </a:r>
            <a:br>
              <a:rPr lang="en-US" altLang="zh-CN"/>
            </a:br>
            <a:r>
              <a:rPr lang="en-US" altLang="zh-CN"/>
              <a:t>defer</a:t>
            </a:r>
            <a:r>
              <a:rPr lang="zh-CN" altLang="en-US"/>
              <a:t>池的适用场景较少</a:t>
            </a:r>
            <a:r>
              <a:rPr lang="en-US" altLang="zh-CN"/>
              <a:t>,</a:t>
            </a:r>
            <a:r>
              <a:rPr lang="zh-CN" altLang="en-US"/>
              <a:t>一般需要用于</a:t>
            </a:r>
            <a:r>
              <a:rPr lang="en-US" altLang="zh-CN"/>
              <a:t> </a:t>
            </a:r>
            <a:r>
              <a:rPr lang="zh-CN" altLang="en-US"/>
              <a:t>高重复操作</a:t>
            </a:r>
            <a:r>
              <a:rPr lang="en-US" altLang="zh-CN"/>
              <a:t>+</a:t>
            </a:r>
            <a:r>
              <a:rPr lang="zh-CN" altLang="en-US"/>
              <a:t>资源可以服用</a:t>
            </a:r>
            <a:r>
              <a:rPr lang="en-US" altLang="zh-CN"/>
              <a:t>+</a:t>
            </a:r>
            <a:r>
              <a:rPr lang="zh-CN" altLang="en-US"/>
              <a:t>资源生命周期统一</a:t>
            </a:r>
            <a:r>
              <a:rPr lang="en-US" altLang="zh-CN"/>
              <a:t>(</a:t>
            </a:r>
            <a:r>
              <a:rPr lang="zh-CN" altLang="en-US"/>
              <a:t>用完即还</a:t>
            </a:r>
            <a:r>
              <a:rPr lang="en-US" altLang="zh-CN"/>
              <a:t>)+</a:t>
            </a:r>
            <a:r>
              <a:rPr lang="zh-CN" altLang="en-US"/>
              <a:t>有明确性压力</a:t>
            </a:r>
            <a:endParaRPr lang="zh-CN" altLang="en-US"/>
          </a:p>
          <a:p>
            <a:r>
              <a:rPr lang="en-US" altLang="zh-CN">
                <a:sym typeface="+mn-ea"/>
              </a:rPr>
              <a:t>  deferpool</a:t>
            </a:r>
            <a:r>
              <a:rPr lang="zh-CN" altLang="en-US">
                <a:sym typeface="+mn-ea"/>
              </a:rPr>
              <a:t>属于堆</a:t>
            </a:r>
            <a:r>
              <a:rPr lang="en-US" altLang="zh-CN">
                <a:sym typeface="+mn-ea"/>
              </a:rPr>
              <a:t>defer  </a:t>
            </a:r>
            <a:r>
              <a:rPr lang="zh-CN">
                <a:sym typeface="+mn-ea"/>
              </a:rPr>
              <a:t>实际上</a:t>
            </a:r>
            <a:r>
              <a:rPr lang="en-US" altLang="zh-CN">
                <a:sym typeface="+mn-ea"/>
              </a:rPr>
              <a:t>,go</a:t>
            </a:r>
            <a:r>
              <a:rPr lang="zh-CN" altLang="en-US">
                <a:sym typeface="+mn-ea"/>
              </a:rPr>
              <a:t>语言会预分配不同规格的</a:t>
            </a:r>
            <a:r>
              <a:rPr lang="en-US" altLang="zh-CN">
                <a:sym typeface="+mn-ea"/>
              </a:rPr>
              <a:t>deferpool,</a:t>
            </a:r>
            <a:r>
              <a:rPr lang="zh-CN" altLang="en-US">
                <a:sym typeface="+mn-ea"/>
              </a:rPr>
              <a:t>执行时从空闲</a:t>
            </a:r>
            <a:r>
              <a:rPr lang="en-US" altLang="zh-CN">
                <a:sym typeface="+mn-ea"/>
              </a:rPr>
              <a:t>defer</a:t>
            </a:r>
            <a:r>
              <a:rPr lang="zh-CN" altLang="en-US">
                <a:sym typeface="+mn-ea"/>
              </a:rPr>
              <a:t>中取出来一个用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如果没有合适大小的</a:t>
            </a:r>
            <a:r>
              <a:rPr lang="en-US" altLang="zh-CN">
                <a:sym typeface="+mn-ea"/>
              </a:rPr>
              <a:t>_defer,</a:t>
            </a:r>
            <a:r>
              <a:rPr lang="zh-CN" altLang="en-US">
                <a:sym typeface="+mn-ea"/>
              </a:rPr>
              <a:t>再进行堆分配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最开始的性能并不好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前面介绍的</a:t>
            </a:r>
            <a:r>
              <a:rPr lang="en-US" altLang="zh-CN">
                <a:sym typeface="+mn-ea"/>
              </a:rPr>
              <a:t>defer</a:t>
            </a:r>
            <a:r>
              <a:rPr lang="zh-CN" altLang="en-US">
                <a:sym typeface="+mn-ea"/>
              </a:rPr>
              <a:t>链表结构就是堆类型的</a:t>
            </a:r>
            <a:r>
              <a:rPr lang="en-US" altLang="zh-CN">
                <a:sym typeface="+mn-ea"/>
              </a:rPr>
              <a:t>defer;</a:t>
            </a:r>
            <a:r>
              <a:rPr lang="zh-CN" altLang="en-US">
                <a:sym typeface="+mn-ea"/>
              </a:rPr>
              <a:t>但是链表的各个节点通常都不连续存储在内存的同一个地址区域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而是通过指针维护顺序</a:t>
            </a:r>
            <a:r>
              <a:rPr lang="en-US" altLang="zh-CN">
                <a:sym typeface="+mn-ea"/>
              </a:rPr>
              <a:t>;</a:t>
            </a:r>
            <a:r>
              <a:rPr lang="zh-CN" altLang="en-US">
                <a:sym typeface="+mn-ea"/>
              </a:rPr>
              <a:t>读取的时候只能从表头开始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通过指针依次遍历才能访问元素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强调一定是编译器内部</a:t>
            </a:r>
            <a:r>
              <a:rPr lang="en-US" altLang="zh-CN"/>
              <a:t>,</a:t>
            </a:r>
            <a:r>
              <a:rPr lang="zh-CN" altLang="en-US"/>
              <a:t>如果是我们自己这样写代码</a:t>
            </a:r>
            <a:r>
              <a:rPr lang="en-US" altLang="zh-CN"/>
              <a:t>,</a:t>
            </a:r>
            <a:r>
              <a:rPr lang="zh-CN" altLang="en-US"/>
              <a:t>那就失去了</a:t>
            </a:r>
            <a:r>
              <a:rPr lang="en-US" altLang="zh-CN"/>
              <a:t>defer</a:t>
            </a:r>
            <a:r>
              <a:rPr lang="zh-CN" altLang="en-US"/>
              <a:t>延迟执行的作用了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静态重排代码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因为是静态重排代码代替了动态链表遍历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搜索</a:t>
            </a:r>
            <a:r>
              <a:rPr lang="en-US" altLang="zh-CN">
                <a:sym typeface="+mn-ea"/>
              </a:rPr>
              <a:t>maxOpenDefers</a:t>
            </a:r>
            <a:r>
              <a:rPr lang="zh-CN" altLang="en-US">
                <a:sym typeface="+mn-ea"/>
              </a:rPr>
              <a:t>来查看开放编码的限制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使用</a:t>
            </a:r>
            <a:r>
              <a:rPr lang="en-US" altLang="zh-CN"/>
              <a:t>hasOpenDefers</a:t>
            </a:r>
            <a:r>
              <a:rPr lang="zh-CN" altLang="en-US"/>
              <a:t>来查看乘积小于</a:t>
            </a:r>
            <a:r>
              <a:rPr lang="en-US" altLang="zh-CN"/>
              <a:t>15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go tool compile -N -l -S main.go &gt; asd.txt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go tool compile -S main.go &gt; asd.txt</a:t>
            </a: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Go</a:t>
            </a:r>
            <a:r>
              <a:rPr lang="zh-CN" altLang="en-US">
                <a:sym typeface="+mn-ea"/>
              </a:rPr>
              <a:t>源代码文件编译成对应的汇编代码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并通过重定向符号将输出保存到</a:t>
            </a:r>
            <a:r>
              <a:rPr lang="en-US" altLang="zh-CN">
                <a:sym typeface="+mn-ea"/>
              </a:rPr>
              <a:t>asd.txt</a:t>
            </a:r>
            <a:r>
              <a:rPr lang="zh-CN" altLang="en-US">
                <a:sym typeface="+mn-ea"/>
              </a:rPr>
              <a:t>文件中</a:t>
            </a:r>
            <a:endParaRPr lang="zh-CN" altLang="en-US">
              <a:sym typeface="+mn-ea"/>
            </a:endParaRPr>
          </a:p>
          <a:p>
            <a:br>
              <a:rPr lang="zh-CN" altLang="en-US"/>
            </a:br>
            <a:r>
              <a:rPr lang="zh-CN" altLang="en-US"/>
              <a:t>开放编码中的</a:t>
            </a:r>
            <a:r>
              <a:rPr lang="en-US" altLang="zh-CN"/>
              <a:t>deferreturn</a:t>
            </a:r>
            <a:r>
              <a:rPr lang="zh-CN" altLang="en-US"/>
              <a:t>简化为了检查是否有未执行的开放编码</a:t>
            </a:r>
            <a:r>
              <a:rPr lang="en-US" altLang="zh-CN"/>
              <a:t>defer</a:t>
            </a:r>
            <a:endParaRPr lang="en-US" altLang="zh-CN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堆</a:t>
            </a:r>
            <a:r>
              <a:rPr lang="en-US" altLang="zh-CN">
                <a:sym typeface="+mn-ea"/>
              </a:rPr>
              <a:t>defer</a:t>
            </a: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_defer</a:t>
            </a:r>
            <a:r>
              <a:rPr lang="zh-CN" altLang="en-US">
                <a:sym typeface="+mn-ea"/>
              </a:rPr>
              <a:t>链表中遍历调用</a:t>
            </a:r>
            <a:endParaRPr lang="zh-CN" altLang="en-US"/>
          </a:p>
          <a:p>
            <a:r>
              <a:rPr lang="en-US" altLang="zh-CN">
                <a:sym typeface="+mn-ea"/>
              </a:rPr>
              <a:t>-N</a:t>
            </a:r>
            <a:r>
              <a:rPr lang="zh-CN" altLang="en-US">
                <a:sym typeface="+mn-ea"/>
              </a:rPr>
              <a:t>禁用编译优化</a:t>
            </a:r>
            <a:r>
              <a:rPr lang="en-US" altLang="zh-CN">
                <a:sym typeface="+mn-ea"/>
              </a:rPr>
              <a:t> -l</a:t>
            </a:r>
            <a:r>
              <a:rPr lang="zh-CN" altLang="en-US">
                <a:sym typeface="+mn-ea"/>
              </a:rPr>
              <a:t>禁用内联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go tool compile -N -l -S main.go &gt; asd.txt</a:t>
            </a:r>
            <a:endParaRPr lang="en-US" altLang="zh-CN"/>
          </a:p>
          <a:p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在运行的时候才能确定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demo3</a:t>
            </a:r>
            <a:br>
              <a:rPr lang="en-US" altLang="zh-CN"/>
            </a:br>
            <a:r>
              <a:rPr lang="en-US" altLang="zh-CN"/>
              <a:t>morestack </a:t>
            </a:r>
            <a:r>
              <a:rPr lang="zh-CN" altLang="en-US"/>
              <a:t>当一个函数的栈空间不足以容纳更多的局部变量或递归调用时，</a:t>
            </a:r>
            <a:r>
              <a:rPr lang="en-US" altLang="zh-CN"/>
              <a:t>Go </a:t>
            </a:r>
            <a:r>
              <a:rPr lang="zh-CN" altLang="en-US"/>
              <a:t>运行时会触发栈增长。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4540" cy="68573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3810"/>
            <a:ext cx="12194540" cy="685419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704850" y="3314065"/>
            <a:ext cx="10994390" cy="1198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5400" b="1"/>
              <a:t>一行代码的魔法：你真的懂</a:t>
            </a:r>
            <a:r>
              <a:rPr lang="en-US" altLang="zh-CN" sz="5400" b="1"/>
              <a:t> defer </a:t>
            </a:r>
            <a:r>
              <a:rPr lang="zh-CN" altLang="en-US" sz="5400" b="1"/>
              <a:t>吗</a:t>
            </a:r>
            <a:r>
              <a:rPr lang="en-US" altLang="zh-CN" sz="5400" b="1"/>
              <a:t>?</a:t>
            </a:r>
            <a:endParaRPr lang="en-US" altLang="zh-CN" sz="5400" b="1"/>
          </a:p>
        </p:txBody>
      </p:sp>
      <p:sp>
        <p:nvSpPr>
          <p:cNvPr id="2" name="文本框 1"/>
          <p:cNvSpPr txBox="1"/>
          <p:nvPr/>
        </p:nvSpPr>
        <p:spPr>
          <a:xfrm>
            <a:off x="459740" y="4898390"/>
            <a:ext cx="9903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200400" lvl="7" indent="457200"/>
            <a:r>
              <a:rPr lang="zh-CN" altLang="en-US"/>
              <a:t>分享人</a:t>
            </a:r>
            <a:r>
              <a:rPr lang="en-US" altLang="zh-CN"/>
              <a:t>:</a:t>
            </a:r>
            <a:r>
              <a:rPr lang="zh-CN" altLang="en-US"/>
              <a:t>符成岩</a:t>
            </a:r>
            <a:r>
              <a:rPr lang="en-US" altLang="zh-CN"/>
              <a:t>             </a:t>
            </a:r>
            <a:r>
              <a:rPr lang="zh-CN" altLang="en-US"/>
              <a:t>分享时间</a:t>
            </a:r>
            <a:r>
              <a:rPr lang="en-US" altLang="zh-CN"/>
              <a:t>:2025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3</a:t>
            </a:r>
            <a:r>
              <a:rPr lang="zh-CN" altLang="en-US"/>
              <a:t>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85900" y="3075940"/>
            <a:ext cx="15278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目录</a:t>
            </a:r>
            <a:endParaRPr lang="zh-CN" altLang="en-US" sz="4000"/>
          </a:p>
        </p:txBody>
      </p:sp>
      <p:sp>
        <p:nvSpPr>
          <p:cNvPr id="3" name="文本框 2"/>
          <p:cNvSpPr txBox="1"/>
          <p:nvPr/>
        </p:nvSpPr>
        <p:spPr>
          <a:xfrm>
            <a:off x="4341495" y="635635"/>
            <a:ext cx="4064000" cy="558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altLang="zh-CN" sz="2400" b="1"/>
              <a:t>defer</a:t>
            </a:r>
            <a:r>
              <a:rPr lang="zh-CN" altLang="en-US" sz="2400" b="1"/>
              <a:t>的定义</a:t>
            </a:r>
            <a:endParaRPr lang="zh-CN" altLang="en-US" sz="2400" b="1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altLang="zh-CN" sz="2400" b="1"/>
              <a:t>defer</a:t>
            </a:r>
            <a:r>
              <a:rPr lang="zh-CN" altLang="en-US" sz="2400" b="1"/>
              <a:t>的特性</a:t>
            </a:r>
            <a:endParaRPr lang="zh-CN" altLang="en-US" sz="2400" b="1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altLang="zh-CN" sz="2400" b="1"/>
              <a:t>defer</a:t>
            </a:r>
            <a:r>
              <a:rPr lang="zh-CN" altLang="en-US" sz="2400" b="1"/>
              <a:t>的运行时机</a:t>
            </a:r>
            <a:endParaRPr lang="zh-CN" altLang="en-US" sz="2400" b="1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altLang="zh-CN" sz="2400" b="1"/>
              <a:t>defer</a:t>
            </a:r>
            <a:r>
              <a:rPr lang="zh-CN" altLang="en-US" sz="2400" b="1"/>
              <a:t>的数据结构</a:t>
            </a:r>
            <a:endParaRPr lang="zh-CN" altLang="en-US" sz="2400" b="1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altLang="zh-CN" sz="2400" b="1"/>
              <a:t>defer</a:t>
            </a:r>
            <a:r>
              <a:rPr lang="zh-CN" altLang="en-US" sz="2400" b="1"/>
              <a:t>的性能优化</a:t>
            </a:r>
            <a:endParaRPr lang="zh-CN" altLang="en-US" sz="2400" b="1"/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zh-CN" altLang="en-US" sz="2400" b="1"/>
              <a:t>代码演示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内容占位符 2"/>
          <p:cNvSpPr>
            <a:spLocks noGrp="1"/>
          </p:cNvSpPr>
          <p:nvPr/>
        </p:nvSpPr>
        <p:spPr>
          <a:xfrm>
            <a:off x="601980" y="881380"/>
            <a:ext cx="10515600" cy="1281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>
                <a:sym typeface="+mn-ea"/>
              </a:rPr>
              <a:t>defer</a:t>
            </a:r>
            <a:r>
              <a:rPr lang="zh-CN" altLang="en-US" sz="2400">
                <a:sym typeface="+mn-ea"/>
              </a:rPr>
              <a:t>是</a:t>
            </a:r>
            <a:r>
              <a:rPr lang="en-US" altLang="zh-CN" sz="2400">
                <a:sym typeface="+mn-ea"/>
              </a:rPr>
              <a:t>go</a:t>
            </a:r>
            <a:r>
              <a:rPr lang="zh-CN" altLang="en-US" sz="2400">
                <a:sym typeface="+mn-ea"/>
              </a:rPr>
              <a:t>语言中的一个关键字</a:t>
            </a:r>
            <a:r>
              <a:rPr lang="en-US" altLang="zh-CN" sz="2400">
                <a:sym typeface="+mn-ea"/>
              </a:rPr>
              <a:t>,</a:t>
            </a:r>
            <a:r>
              <a:rPr lang="zh-CN" altLang="en-US" sz="2400">
                <a:sym typeface="+mn-ea"/>
              </a:rPr>
              <a:t>用于延迟执行一个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函数调用</a:t>
            </a:r>
            <a:r>
              <a:rPr lang="en-US" altLang="zh-CN" sz="2400">
                <a:sym typeface="+mn-ea"/>
              </a:rPr>
              <a:t>,</a:t>
            </a:r>
            <a:r>
              <a:rPr lang="zh-CN" altLang="en-US" sz="2400">
                <a:sym typeface="+mn-ea"/>
              </a:rPr>
              <a:t>该函数会在当前函数即将返回之前被调用</a:t>
            </a:r>
            <a:r>
              <a:rPr lang="en-US" altLang="zh-CN" sz="2400">
                <a:sym typeface="+mn-ea"/>
              </a:rPr>
              <a:t>(</a:t>
            </a:r>
            <a:r>
              <a:rPr lang="zh-CN" altLang="en-US" sz="2400">
                <a:sym typeface="+mn-ea"/>
              </a:rPr>
              <a:t>无论是正常返回还是因</a:t>
            </a:r>
            <a:r>
              <a:rPr lang="en-US" altLang="zh-CN" sz="2400">
                <a:sym typeface="+mn-ea"/>
              </a:rPr>
              <a:t>panic</a:t>
            </a:r>
            <a:r>
              <a:rPr lang="zh-CN" altLang="en-US" sz="2400">
                <a:sym typeface="+mn-ea"/>
              </a:rPr>
              <a:t>导致的返回</a:t>
            </a:r>
            <a:r>
              <a:rPr lang="en-US" altLang="zh-CN" sz="2400">
                <a:sym typeface="+mn-ea"/>
              </a:rPr>
              <a:t>),</a:t>
            </a:r>
            <a:r>
              <a:rPr lang="zh-CN" altLang="en-US" sz="2400">
                <a:sym typeface="+mn-ea"/>
              </a:rPr>
              <a:t>多个</a:t>
            </a:r>
            <a:r>
              <a:rPr lang="en-US" altLang="zh-CN" sz="2400">
                <a:sym typeface="+mn-ea"/>
              </a:rPr>
              <a:t>defer</a:t>
            </a:r>
            <a:r>
              <a:rPr lang="zh-CN" altLang="en-US" sz="2400">
                <a:sym typeface="+mn-ea"/>
              </a:rPr>
              <a:t>语句会按照先进后出的顺序执行</a:t>
            </a:r>
            <a:r>
              <a:rPr lang="en-US" altLang="zh-CN" sz="2400">
                <a:sym typeface="+mn-ea"/>
              </a:rPr>
              <a:t>,</a:t>
            </a:r>
            <a:r>
              <a:rPr lang="zh-CN" altLang="en-US" sz="2400">
                <a:sym typeface="+mn-ea"/>
              </a:rPr>
              <a:t>类似于栈的设计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</p:txBody>
      </p:sp>
      <p:pic>
        <p:nvPicPr>
          <p:cNvPr id="16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2849880"/>
            <a:ext cx="3293745" cy="24707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35" y="2849880"/>
            <a:ext cx="3120390" cy="243967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48" name="矩形 47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的定义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38275" y="897890"/>
            <a:ext cx="6402070" cy="697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Go</a:t>
            </a:r>
            <a:r>
              <a:rPr lang="zh-CN" altLang="en-US"/>
              <a:t>语言中的</a:t>
            </a:r>
            <a:r>
              <a:rPr lang="en-US" altLang="zh-CN"/>
              <a:t>defer</a:t>
            </a:r>
            <a:r>
              <a:rPr lang="zh-CN" altLang="en-US"/>
              <a:t>后面是一个函数调用</a:t>
            </a:r>
            <a:r>
              <a:rPr lang="en-US" altLang="zh-CN"/>
              <a:t>,</a:t>
            </a:r>
            <a:r>
              <a:rPr lang="zh-CN" altLang="en-US"/>
              <a:t>包括自定义函数和方法</a:t>
            </a:r>
            <a:r>
              <a:rPr lang="en-US" altLang="zh-CN"/>
              <a:t>,</a:t>
            </a:r>
            <a:r>
              <a:rPr lang="zh-CN" altLang="en-US"/>
              <a:t>还有标准库中提供的函数比如</a:t>
            </a:r>
            <a:r>
              <a:rPr lang="en-US" altLang="zh-CN"/>
              <a:t>fmt.Println()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380" y="4273550"/>
            <a:ext cx="3040380" cy="6280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89380" y="5034915"/>
            <a:ext cx="42335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对于有返回值的自定义函数或者方法</a:t>
            </a:r>
            <a:r>
              <a:rPr lang="en-US" altLang="zh-CN"/>
              <a:t>,</a:t>
            </a:r>
            <a:r>
              <a:rPr lang="zh-CN" altLang="en-US"/>
              <a:t>返回值会在延迟函数被调度的时候自动丢弃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281555"/>
            <a:ext cx="2192655" cy="18542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48" name="矩形 47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的特性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438275" y="1732915"/>
            <a:ext cx="406400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那还有一些内置函数呢</a:t>
            </a:r>
            <a:r>
              <a:rPr lang="en-US" altLang="zh-CN">
                <a:sym typeface="+mn-ea"/>
              </a:rPr>
              <a:t>?</a:t>
            </a:r>
            <a:endParaRPr lang="en-US" altLang="zh-CN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732905" y="17754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处理方法</a:t>
            </a:r>
            <a:r>
              <a:rPr lang="en-US" altLang="zh-CN"/>
              <a:t>:</a:t>
            </a:r>
            <a:r>
              <a:rPr lang="zh-CN" altLang="en-US"/>
              <a:t>使用一个包裹它的匿名函数来间接满足要求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905" y="2821305"/>
            <a:ext cx="316992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3" grpId="1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9800" y="980440"/>
            <a:ext cx="9616440" cy="845820"/>
          </a:xfrm>
        </p:spPr>
        <p:txBody>
          <a:bodyPr/>
          <a:p>
            <a:r>
              <a:rPr lang="zh-CN" altLang="en-US" sz="2400">
                <a:sym typeface="+mn-ea"/>
              </a:rPr>
              <a:t>由于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延迟调用的</a:t>
            </a:r>
            <a:r>
              <a:rPr lang="zh-CN" altLang="en-US" sz="2400">
                <a:sym typeface="+mn-ea"/>
              </a:rPr>
              <a:t>特性</a:t>
            </a:r>
            <a:r>
              <a:rPr lang="en-US" altLang="zh-CN" sz="2400">
                <a:sym typeface="+mn-ea"/>
              </a:rPr>
              <a:t>,</a:t>
            </a:r>
            <a:r>
              <a:rPr lang="zh-CN" altLang="en-US" sz="2400">
                <a:sym typeface="+mn-ea"/>
              </a:rPr>
              <a:t>非常方便地处理资源释放问题</a:t>
            </a:r>
            <a:r>
              <a:rPr lang="en-US" altLang="zh-CN" sz="2400">
                <a:sym typeface="+mn-ea"/>
              </a:rPr>
              <a:t>,</a:t>
            </a:r>
            <a:br>
              <a:rPr lang="en-US" altLang="zh-CN" sz="2400">
                <a:sym typeface="+mn-ea"/>
              </a:rPr>
            </a:br>
            <a:r>
              <a:rPr lang="zh-CN" altLang="en-US" sz="2400">
                <a:sym typeface="+mn-ea"/>
              </a:rPr>
              <a:t>比如</a:t>
            </a:r>
            <a:r>
              <a:rPr lang="en-US" altLang="zh-CN" sz="2400">
                <a:sym typeface="+mn-ea"/>
              </a:rPr>
              <a:t>:</a:t>
            </a:r>
            <a:r>
              <a:rPr lang="zh-CN" altLang="en-US" sz="2400">
                <a:sym typeface="+mn-ea"/>
              </a:rPr>
              <a:t>资源释放</a:t>
            </a:r>
            <a:r>
              <a:rPr lang="en-US" altLang="zh-CN" sz="2400">
                <a:sym typeface="+mn-ea"/>
              </a:rPr>
              <a:t>(</a:t>
            </a:r>
            <a:r>
              <a:rPr lang="zh-CN" altLang="en-US" sz="2400">
                <a:sym typeface="+mn-ea"/>
              </a:rPr>
              <a:t>文件关闭</a:t>
            </a:r>
            <a:r>
              <a:rPr lang="en-US" altLang="zh-CN" sz="2400">
                <a:sym typeface="+mn-ea"/>
              </a:rPr>
              <a:t>,</a:t>
            </a:r>
            <a:r>
              <a:rPr lang="zh-CN" altLang="en-US" sz="2400">
                <a:sym typeface="+mn-ea"/>
              </a:rPr>
              <a:t>解锁</a:t>
            </a:r>
            <a:r>
              <a:rPr lang="en-US" altLang="zh-CN" sz="2400">
                <a:sym typeface="+mn-ea"/>
              </a:rPr>
              <a:t>),</a:t>
            </a:r>
            <a:r>
              <a:rPr lang="zh-CN" altLang="en-US" sz="2400">
                <a:sym typeface="+mn-ea"/>
              </a:rPr>
              <a:t>流程控制</a:t>
            </a:r>
            <a:r>
              <a:rPr lang="en-US" altLang="zh-CN" sz="2400">
                <a:sym typeface="+mn-ea"/>
              </a:rPr>
              <a:t>(wait.Group);</a:t>
            </a:r>
            <a:r>
              <a:rPr lang="zh-CN" altLang="en-US" sz="2400">
                <a:sym typeface="+mn-ea"/>
              </a:rPr>
              <a:t>异常处理</a:t>
            </a:r>
            <a:r>
              <a:rPr lang="en-US" altLang="zh-CN" sz="2400">
                <a:sym typeface="+mn-ea"/>
              </a:rPr>
              <a:t>(recover)</a:t>
            </a:r>
            <a:endParaRPr lang="en-US" altLang="zh-CN" sz="240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278360" y="569214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那后进先出的特性在实际应用中的价值是</a:t>
            </a:r>
            <a:br>
              <a:rPr lang="zh-CN" altLang="en-US"/>
            </a:br>
            <a:r>
              <a:rPr lang="zh-CN" altLang="en-US"/>
              <a:t>比如</a:t>
            </a:r>
            <a:r>
              <a:rPr lang="en-US" altLang="zh-CN"/>
              <a:t>:</a:t>
            </a:r>
            <a:r>
              <a:rPr lang="zh-CN" altLang="en-US"/>
              <a:t>释放资源</a:t>
            </a:r>
            <a:r>
              <a:rPr lang="en-US" altLang="zh-CN"/>
              <a:t>,</a:t>
            </a:r>
            <a:r>
              <a:rPr lang="zh-CN" altLang="en-US"/>
              <a:t>我先调用了文件</a:t>
            </a:r>
            <a:r>
              <a:rPr lang="en-US" altLang="zh-CN"/>
              <a:t>a,</a:t>
            </a:r>
            <a:r>
              <a:rPr lang="zh-CN" altLang="en-US"/>
              <a:t>在调用</a:t>
            </a:r>
            <a:r>
              <a:rPr lang="en-US" altLang="zh-CN"/>
              <a:t>b,b</a:t>
            </a:r>
            <a:r>
              <a:rPr lang="zh-CN" altLang="en-US"/>
              <a:t>是在</a:t>
            </a:r>
            <a:r>
              <a:rPr lang="en-US" altLang="zh-CN"/>
              <a:t>a</a:t>
            </a:r>
            <a:r>
              <a:rPr lang="zh-CN" altLang="en-US"/>
              <a:t>的基础上</a:t>
            </a:r>
            <a:r>
              <a:rPr lang="en-US" altLang="zh-CN"/>
              <a:t>,</a:t>
            </a:r>
            <a:r>
              <a:rPr lang="zh-CN" altLang="en-US"/>
              <a:t>那么我就先调用</a:t>
            </a:r>
            <a:r>
              <a:rPr lang="en-US" altLang="zh-CN"/>
              <a:t>a</a:t>
            </a:r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48" name="矩形 47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的特性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289675" y="2252345"/>
            <a:ext cx="1168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异常处理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50240" y="2348865"/>
            <a:ext cx="4497070" cy="2186940"/>
            <a:chOff x="1158" y="3219"/>
            <a:chExt cx="7082" cy="3444"/>
          </a:xfrm>
        </p:grpSpPr>
        <p:sp>
          <p:nvSpPr>
            <p:cNvPr id="3" name="文本框 2"/>
            <p:cNvSpPr txBox="1"/>
            <p:nvPr/>
          </p:nvSpPr>
          <p:spPr>
            <a:xfrm>
              <a:off x="1158" y="5629"/>
              <a:ext cx="1958" cy="6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流程控制</a:t>
              </a:r>
              <a:endParaRPr lang="zh-CN" altLang="en-US"/>
            </a:p>
            <a:p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52" y="5203"/>
              <a:ext cx="4789" cy="146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158" y="3389"/>
              <a:ext cx="186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释放资源</a:t>
              </a:r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2" y="3219"/>
              <a:ext cx="4788" cy="989"/>
            </a:xfrm>
            <a:prstGeom prst="rect">
              <a:avLst/>
            </a:prstGeom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675" y="2903855"/>
            <a:ext cx="3947160" cy="3358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48" name="矩形 47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的特性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09575" y="813435"/>
            <a:ext cx="4928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Go</a:t>
            </a:r>
            <a:r>
              <a:rPr lang="zh-CN" altLang="en-US" b="1"/>
              <a:t>官方博客里总结了三条</a:t>
            </a:r>
            <a:r>
              <a:rPr lang="en-US" altLang="zh-CN" b="1"/>
              <a:t>defer</a:t>
            </a:r>
            <a:r>
              <a:rPr lang="zh-CN" altLang="en-US" b="1"/>
              <a:t>的行为规则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409575" y="1507490"/>
            <a:ext cx="2296160" cy="1221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规则一</a:t>
            </a:r>
            <a:r>
              <a:rPr lang="en-US" altLang="zh-CN" sz="1400"/>
              <a:t>:</a:t>
            </a:r>
            <a:endParaRPr lang="en-US" altLang="zh-CN" sz="1400"/>
          </a:p>
          <a:p>
            <a:r>
              <a:rPr lang="zh-CN" altLang="en-US" sz="1400">
                <a:sym typeface="+mn-ea"/>
              </a:rPr>
              <a:t>延迟函数按照后进先出的顺序执行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即先出现的</a:t>
            </a:r>
            <a:r>
              <a:rPr lang="en-US" altLang="zh-CN" sz="1400">
                <a:sym typeface="+mn-ea"/>
              </a:rPr>
              <a:t>defer</a:t>
            </a:r>
            <a:r>
              <a:rPr lang="zh-CN" altLang="en-US" sz="1400">
                <a:sym typeface="+mn-ea"/>
              </a:rPr>
              <a:t>最后执行</a:t>
            </a:r>
            <a:endParaRPr lang="zh-CN" altLang="en-US" sz="1400"/>
          </a:p>
          <a:p>
            <a:endParaRPr lang="en-US" altLang="zh-CN" sz="1400"/>
          </a:p>
          <a:p>
            <a:endParaRPr lang="en-US" altLang="zh-CN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409575" y="3054350"/>
            <a:ext cx="2296160" cy="1221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规则二</a:t>
            </a:r>
            <a:r>
              <a:rPr lang="en-US" altLang="zh-CN" sz="1400"/>
              <a:t>:</a:t>
            </a:r>
            <a:endParaRPr lang="en-US" altLang="zh-CN" sz="1400"/>
          </a:p>
          <a:p>
            <a:r>
              <a:rPr lang="zh-CN" altLang="en-US" sz="1400">
                <a:sym typeface="+mn-ea"/>
              </a:rPr>
              <a:t>延迟函数的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参数</a:t>
            </a:r>
            <a:r>
              <a:rPr lang="zh-CN" altLang="en-US" sz="1400">
                <a:sym typeface="+mn-ea"/>
              </a:rPr>
              <a:t>在</a:t>
            </a:r>
            <a:r>
              <a:rPr lang="en-US" altLang="zh-CN" sz="1400">
                <a:sym typeface="+mn-ea"/>
              </a:rPr>
              <a:t>defer</a:t>
            </a:r>
            <a:r>
              <a:rPr lang="zh-CN" altLang="en-US" sz="1400">
                <a:sym typeface="+mn-ea"/>
              </a:rPr>
              <a:t>语句出现时就已经确定了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也叫做</a:t>
            </a:r>
            <a:r>
              <a:rPr lang="en-US" altLang="zh-CN" sz="1400">
                <a:sym typeface="+mn-ea"/>
              </a:rPr>
              <a:t>defer</a:t>
            </a:r>
            <a:r>
              <a:rPr lang="zh-CN" altLang="en-US" sz="1400">
                <a:sym typeface="+mn-ea"/>
              </a:rPr>
              <a:t>的预计算</a:t>
            </a:r>
            <a:endParaRPr lang="zh-CN" altLang="en-US" sz="1400"/>
          </a:p>
          <a:p>
            <a:endParaRPr lang="en-US" altLang="zh-CN" sz="1400"/>
          </a:p>
          <a:p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409575" y="4818380"/>
            <a:ext cx="2296160" cy="1221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规则三</a:t>
            </a:r>
            <a:r>
              <a:rPr lang="en-US" altLang="zh-CN" sz="1400"/>
              <a:t>:</a:t>
            </a:r>
            <a:endParaRPr lang="en-US" altLang="zh-CN" sz="1400"/>
          </a:p>
          <a:p>
            <a:r>
              <a:rPr lang="zh-CN" altLang="en-US" sz="1400"/>
              <a:t>延迟函数</a:t>
            </a:r>
            <a:r>
              <a:rPr lang="zh-CN" sz="1400"/>
              <a:t>操作主函数的具名返回值</a:t>
            </a:r>
            <a:endParaRPr lang="zh-CN" sz="14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b="17628"/>
          <a:stretch>
            <a:fillRect/>
          </a:stretch>
        </p:blipFill>
        <p:spPr>
          <a:xfrm>
            <a:off x="2705735" y="1611630"/>
            <a:ext cx="4600575" cy="31007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82372"/>
          <a:stretch>
            <a:fillRect/>
          </a:stretch>
        </p:blipFill>
        <p:spPr>
          <a:xfrm>
            <a:off x="2705735" y="5017135"/>
            <a:ext cx="4600575" cy="66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13765" y="834390"/>
            <a:ext cx="2966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思考下面代码的运行结果</a:t>
            </a:r>
            <a:endParaRPr lang="zh-CN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249035" y="1350010"/>
            <a:ext cx="2854325" cy="21780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9286240" y="1348740"/>
            <a:ext cx="2854325" cy="217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5" y="1347470"/>
            <a:ext cx="2854325" cy="217917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3211830" y="1350010"/>
            <a:ext cx="2854325" cy="217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55" y="4789805"/>
            <a:ext cx="2152650" cy="6762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9485" y="4791075"/>
            <a:ext cx="2190750" cy="6756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215" y="4790440"/>
            <a:ext cx="2152650" cy="67627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760" y="4733925"/>
            <a:ext cx="2152650" cy="67627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48" name="矩形 47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的特性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660" y="675005"/>
            <a:ext cx="10515600" cy="1429385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GO</a:t>
            </a:r>
            <a:r>
              <a:rPr lang="zh-CN" altLang="en-US">
                <a:sym typeface="+mn-ea"/>
              </a:rPr>
              <a:t>语言的</a:t>
            </a:r>
            <a:r>
              <a:rPr lang="en-US" altLang="zh-CN">
                <a:sym typeface="+mn-ea"/>
              </a:rPr>
              <a:t>return</a:t>
            </a:r>
            <a:r>
              <a:rPr lang="zh-CN" altLang="en-US">
                <a:sym typeface="+mn-ea"/>
              </a:rPr>
              <a:t>语句并不是一个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原子性操作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分为设置返回值赋值和</a:t>
            </a:r>
            <a:r>
              <a:rPr lang="en-US" altLang="zh-CN">
                <a:sym typeface="+mn-ea"/>
              </a:rPr>
              <a:t>RET</a:t>
            </a:r>
            <a:r>
              <a:rPr lang="zh-CN" altLang="en-US">
                <a:sym typeface="+mn-ea"/>
              </a:rPr>
              <a:t>指令两步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而</a:t>
            </a:r>
            <a:r>
              <a:rPr lang="en-US" altLang="zh-CN">
                <a:sym typeface="+mn-ea"/>
              </a:rPr>
              <a:t>defer</a:t>
            </a:r>
            <a:r>
              <a:rPr lang="zh-CN" altLang="en-US">
                <a:sym typeface="+mn-ea"/>
              </a:rPr>
              <a:t>语句执行的时机就在返回值赋值操作后</a:t>
            </a:r>
            <a:r>
              <a:rPr lang="en-US" altLang="zh-CN">
                <a:sym typeface="+mn-ea"/>
              </a:rPr>
              <a:t>,RET</a:t>
            </a:r>
            <a:r>
              <a:rPr lang="zh-CN" altLang="en-US">
                <a:sym typeface="+mn-ea"/>
              </a:rPr>
              <a:t>指令执行前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110" y="2191385"/>
            <a:ext cx="10452100" cy="1002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原子操作</a:t>
            </a:r>
            <a:r>
              <a:rPr lang="en-US" altLang="zh-CN"/>
              <a:t>:</a:t>
            </a:r>
            <a:r>
              <a:rPr lang="zh-CN" altLang="en-US"/>
              <a:t>原子操作即是进行过程中不能够被中断的操作</a:t>
            </a:r>
            <a:r>
              <a:rPr lang="en-US" altLang="zh-CN"/>
              <a:t>,</a:t>
            </a:r>
            <a:r>
              <a:rPr lang="zh-CN" altLang="en-US"/>
              <a:t>针对某个值的原子操作在被进行的过程中</a:t>
            </a:r>
            <a:r>
              <a:rPr lang="en-US" altLang="zh-CN"/>
              <a:t>,cpu</a:t>
            </a:r>
            <a:r>
              <a:rPr lang="zh-CN" altLang="en-US"/>
              <a:t>绝不会再去进行其他的针对该值的操作</a:t>
            </a:r>
            <a:r>
              <a:rPr lang="en-US" altLang="zh-CN"/>
              <a:t>.</a:t>
            </a:r>
            <a:r>
              <a:rPr lang="zh-CN" altLang="en-US"/>
              <a:t>为了实现这样的严谨性</a:t>
            </a:r>
            <a:r>
              <a:rPr lang="en-US" altLang="zh-CN"/>
              <a:t>,</a:t>
            </a:r>
            <a:r>
              <a:rPr lang="zh-CN" altLang="en-US"/>
              <a:t>原子操作仅会由一个独立的</a:t>
            </a:r>
            <a:r>
              <a:rPr lang="en-US" altLang="zh-CN"/>
              <a:t>cpu</a:t>
            </a:r>
            <a:r>
              <a:rPr lang="zh-CN" altLang="en-US"/>
              <a:t>指令代表和完成</a:t>
            </a:r>
            <a:r>
              <a:rPr lang="en-US" altLang="zh-CN"/>
              <a:t>.</a:t>
            </a:r>
            <a:r>
              <a:rPr lang="zh-CN" altLang="en-US"/>
              <a:t>原子操作是无锁的</a:t>
            </a:r>
            <a:r>
              <a:rPr lang="en-US" altLang="zh-CN"/>
              <a:t>,</a:t>
            </a:r>
            <a:r>
              <a:rPr lang="zh-CN" altLang="en-US"/>
              <a:t>常常直接通过</a:t>
            </a:r>
            <a:r>
              <a:rPr lang="en-US" altLang="zh-CN"/>
              <a:t>CPU</a:t>
            </a:r>
            <a:r>
              <a:rPr lang="zh-CN" altLang="en-US"/>
              <a:t>指令直接实现</a:t>
            </a:r>
            <a:r>
              <a:rPr lang="en-US" altLang="zh-CN"/>
              <a:t>. 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99110" y="3409950"/>
            <a:ext cx="9354820" cy="3131820"/>
            <a:chOff x="786" y="5370"/>
            <a:chExt cx="14732" cy="4932"/>
          </a:xfrm>
        </p:grpSpPr>
        <p:sp>
          <p:nvSpPr>
            <p:cNvPr id="14" name="文本框 13"/>
            <p:cNvSpPr txBox="1"/>
            <p:nvPr/>
          </p:nvSpPr>
          <p:spPr>
            <a:xfrm>
              <a:off x="914" y="5370"/>
              <a:ext cx="50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函数中</a:t>
              </a:r>
              <a:r>
                <a:rPr lang="en-US" altLang="zh-CN"/>
                <a:t>return</a:t>
              </a:r>
              <a:r>
                <a:rPr lang="zh-CN" altLang="en-US"/>
                <a:t>语句的底层实现</a:t>
              </a:r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786" y="6990"/>
              <a:ext cx="6660" cy="2688"/>
              <a:chOff x="786" y="6990"/>
              <a:chExt cx="6660" cy="2688"/>
            </a:xfrm>
          </p:grpSpPr>
          <p:sp>
            <p:nvSpPr>
              <p:cNvPr id="12" name="右箭头 11"/>
              <p:cNvSpPr/>
              <p:nvPr/>
            </p:nvSpPr>
            <p:spPr>
              <a:xfrm>
                <a:off x="3462" y="8190"/>
                <a:ext cx="1128" cy="516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786" y="7950"/>
                <a:ext cx="2256" cy="996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return x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5094" y="6990"/>
                <a:ext cx="2352" cy="97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返回值</a:t>
                </a:r>
                <a:r>
                  <a:rPr lang="en-US" altLang="zh-CN">
                    <a:solidFill>
                      <a:schemeClr val="tx1"/>
                    </a:solidFill>
                  </a:rPr>
                  <a:t> = x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5094" y="8706"/>
                <a:ext cx="2352" cy="97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RET</a:t>
                </a:r>
                <a:r>
                  <a:rPr lang="zh-CN" altLang="en-US">
                    <a:solidFill>
                      <a:schemeClr val="tx1"/>
                    </a:solidFill>
                  </a:rPr>
                  <a:t>指令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直接箭头连接符 17"/>
              <p:cNvCxnSpPr>
                <a:stCxn id="16" idx="2"/>
                <a:endCxn id="17" idx="0"/>
              </p:cNvCxnSpPr>
              <p:nvPr/>
            </p:nvCxnSpPr>
            <p:spPr>
              <a:xfrm>
                <a:off x="6270" y="7962"/>
                <a:ext cx="0" cy="7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/>
            <p:cNvGrpSpPr/>
            <p:nvPr/>
          </p:nvGrpSpPr>
          <p:grpSpPr>
            <a:xfrm>
              <a:off x="8900" y="5774"/>
              <a:ext cx="6618" cy="4404"/>
              <a:chOff x="8900" y="5774"/>
              <a:chExt cx="6618" cy="4404"/>
            </a:xfrm>
          </p:grpSpPr>
          <p:sp>
            <p:nvSpPr>
              <p:cNvPr id="37" name="右箭头 36"/>
              <p:cNvSpPr/>
              <p:nvPr/>
            </p:nvSpPr>
            <p:spPr>
              <a:xfrm>
                <a:off x="11576" y="7730"/>
                <a:ext cx="1128" cy="516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8900" y="7490"/>
                <a:ext cx="2256" cy="996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return x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13166" y="5774"/>
                <a:ext cx="2352" cy="97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返回值</a:t>
                </a:r>
                <a:r>
                  <a:rPr lang="en-US" altLang="zh-CN">
                    <a:solidFill>
                      <a:schemeClr val="tx1"/>
                    </a:solidFill>
                  </a:rPr>
                  <a:t> = x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13166" y="7490"/>
                <a:ext cx="2352" cy="97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运行</a:t>
                </a:r>
                <a:r>
                  <a:rPr lang="en-US" altLang="zh-CN">
                    <a:solidFill>
                      <a:schemeClr val="tx1"/>
                    </a:solidFill>
                  </a:rPr>
                  <a:t>defer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" name="直接箭头连接符 40"/>
              <p:cNvCxnSpPr>
                <a:stCxn id="39" idx="2"/>
                <a:endCxn id="40" idx="0"/>
              </p:cNvCxnSpPr>
              <p:nvPr/>
            </p:nvCxnSpPr>
            <p:spPr>
              <a:xfrm>
                <a:off x="14342" y="6746"/>
                <a:ext cx="0" cy="7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" name="圆角矩形 41"/>
              <p:cNvSpPr/>
              <p:nvPr/>
            </p:nvSpPr>
            <p:spPr>
              <a:xfrm>
                <a:off x="13166" y="9206"/>
                <a:ext cx="2352" cy="97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RET</a:t>
                </a:r>
                <a:r>
                  <a:rPr lang="zh-CN" altLang="en-US">
                    <a:solidFill>
                      <a:schemeClr val="tx1"/>
                    </a:solidFill>
                  </a:rPr>
                  <a:t>指令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3" name="直接箭头连接符 42"/>
              <p:cNvCxnSpPr>
                <a:endCxn id="42" idx="0"/>
              </p:cNvCxnSpPr>
              <p:nvPr/>
            </p:nvCxnSpPr>
            <p:spPr>
              <a:xfrm>
                <a:off x="14342" y="8462"/>
                <a:ext cx="0" cy="7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45" name="直接连接符 44"/>
            <p:cNvCxnSpPr/>
            <p:nvPr/>
          </p:nvCxnSpPr>
          <p:spPr>
            <a:xfrm>
              <a:off x="8238" y="5406"/>
              <a:ext cx="0" cy="489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9118" y="5370"/>
              <a:ext cx="36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defer</a:t>
              </a:r>
              <a:r>
                <a:rPr lang="zh-CN" altLang="en-US"/>
                <a:t>语句执行的时机</a:t>
              </a:r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48" name="矩形 47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的运行时机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2" name="矩形 1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的运行时机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35330" y="797560"/>
            <a:ext cx="802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验证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b="59898"/>
          <a:stretch>
            <a:fillRect/>
          </a:stretch>
        </p:blipFill>
        <p:spPr>
          <a:xfrm>
            <a:off x="636270" y="1692275"/>
            <a:ext cx="3691890" cy="1196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51426"/>
          <a:stretch>
            <a:fillRect/>
          </a:stretch>
        </p:blipFill>
        <p:spPr>
          <a:xfrm>
            <a:off x="636270" y="2866390"/>
            <a:ext cx="3691890" cy="14490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535" y="1692275"/>
            <a:ext cx="4192270" cy="3707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的数据结构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544830" y="979170"/>
            <a:ext cx="4879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源码包中定义了</a:t>
            </a:r>
            <a:r>
              <a:rPr lang="en-US" altLang="zh-CN"/>
              <a:t>defer(975</a:t>
            </a:r>
            <a:r>
              <a:rPr lang="zh-CN" altLang="en-US"/>
              <a:t>行</a:t>
            </a:r>
            <a:r>
              <a:rPr lang="en-US" altLang="zh-CN"/>
              <a:t>)</a:t>
            </a:r>
            <a:r>
              <a:rPr lang="zh-CN" altLang="en-US"/>
              <a:t>的数据结构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544830" y="5241925"/>
            <a:ext cx="59651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每一个</a:t>
            </a:r>
            <a:r>
              <a:rPr lang="en-US" altLang="zh-CN"/>
              <a:t>_defer</a:t>
            </a:r>
            <a:r>
              <a:rPr lang="zh-CN" altLang="en-US"/>
              <a:t>实例实际上是对一个函数的封装</a:t>
            </a:r>
            <a:r>
              <a:rPr lang="en-US" altLang="zh-CN"/>
              <a:t>,</a:t>
            </a:r>
            <a:r>
              <a:rPr lang="zh-CN" altLang="en-US"/>
              <a:t>拥有执行函数的必要信息</a:t>
            </a:r>
            <a:r>
              <a:rPr lang="en-US" altLang="zh-CN"/>
              <a:t>,</a:t>
            </a:r>
            <a:r>
              <a:rPr lang="zh-CN" altLang="en-US"/>
              <a:t>比如栈地址</a:t>
            </a:r>
            <a:r>
              <a:rPr lang="en-US" altLang="zh-CN"/>
              <a:t>,</a:t>
            </a:r>
            <a:r>
              <a:rPr lang="zh-CN" altLang="en-US"/>
              <a:t>程序计数器</a:t>
            </a:r>
            <a:r>
              <a:rPr lang="en-US" altLang="zh-CN"/>
              <a:t>,</a:t>
            </a:r>
            <a:r>
              <a:rPr lang="zh-CN" altLang="en-US"/>
              <a:t>函数地址等等</a:t>
            </a:r>
            <a:r>
              <a:rPr lang="en-US" altLang="zh-CN"/>
              <a:t>.</a:t>
            </a:r>
            <a:r>
              <a:rPr lang="zh-CN" altLang="en-US"/>
              <a:t>实际上</a:t>
            </a:r>
            <a:r>
              <a:rPr lang="en-US" altLang="zh-CN"/>
              <a:t>,</a:t>
            </a:r>
            <a:r>
              <a:rPr lang="zh-CN" altLang="en-US"/>
              <a:t>编译器会把每个延迟函数编译成一个</a:t>
            </a:r>
            <a:r>
              <a:rPr lang="en-US" altLang="zh-CN"/>
              <a:t>_defer</a:t>
            </a:r>
            <a:r>
              <a:rPr lang="zh-CN" altLang="en-US"/>
              <a:t>实例暂存到</a:t>
            </a:r>
            <a:r>
              <a:rPr lang="en-US" altLang="zh-CN"/>
              <a:t>goroutine</a:t>
            </a:r>
            <a:r>
              <a:rPr lang="zh-CN" altLang="en-US"/>
              <a:t>数据结构中</a:t>
            </a:r>
            <a:r>
              <a:rPr lang="en-US" altLang="zh-CN"/>
              <a:t>,</a:t>
            </a:r>
            <a:r>
              <a:rPr lang="zh-CN" altLang="en-US"/>
              <a:t>待函数结束时在逐个取出执行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277735" y="979170"/>
            <a:ext cx="4269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goroutine(396</a:t>
            </a:r>
            <a:r>
              <a:rPr lang="zh-CN" altLang="en-US"/>
              <a:t>行</a:t>
            </a:r>
            <a:r>
              <a:rPr lang="en-US" altLang="zh-CN"/>
              <a:t>)</a:t>
            </a:r>
            <a:r>
              <a:rPr lang="zh-CN" altLang="en-US"/>
              <a:t>的数据结构如下图所示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735" y="1696720"/>
            <a:ext cx="4016375" cy="14674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" y="1742440"/>
            <a:ext cx="5158740" cy="2941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的数据结构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35330" y="1234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defer</a:t>
            </a:r>
            <a:r>
              <a:rPr lang="zh-CN" altLang="en-US"/>
              <a:t>的创建和执行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7725" y="1950085"/>
            <a:ext cx="4064000" cy="2849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deferproc():</a:t>
            </a:r>
            <a:r>
              <a:rPr lang="zh-CN" altLang="en-US"/>
              <a:t>用于将</a:t>
            </a:r>
            <a:r>
              <a:rPr lang="en-US" altLang="zh-CN"/>
              <a:t>defer</a:t>
            </a:r>
            <a:r>
              <a:rPr lang="zh-CN" altLang="en-US"/>
              <a:t>函数处理成</a:t>
            </a:r>
            <a:r>
              <a:rPr lang="en-US" altLang="zh-CN"/>
              <a:t>_defer</a:t>
            </a:r>
            <a:r>
              <a:rPr lang="zh-CN" altLang="en-US"/>
              <a:t>实例</a:t>
            </a:r>
            <a:r>
              <a:rPr lang="en-US" altLang="zh-CN"/>
              <a:t>,</a:t>
            </a:r>
            <a:r>
              <a:rPr lang="zh-CN" altLang="en-US"/>
              <a:t>并存入链表中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deferreturn():</a:t>
            </a:r>
            <a:r>
              <a:rPr lang="zh-CN" altLang="en-US"/>
              <a:t>用于将</a:t>
            </a:r>
            <a:r>
              <a:rPr lang="en-US" altLang="zh-CN"/>
              <a:t>defer</a:t>
            </a:r>
            <a:r>
              <a:rPr lang="zh-CN" altLang="en-US"/>
              <a:t>从链表中取出来并执行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编译器将</a:t>
            </a:r>
            <a:r>
              <a:rPr lang="en-US" altLang="zh-CN"/>
              <a:t>defer()</a:t>
            </a:r>
            <a:r>
              <a:rPr lang="zh-CN" altLang="en-US"/>
              <a:t>语句编译成一个</a:t>
            </a:r>
            <a:r>
              <a:rPr lang="en-US" altLang="zh-CN"/>
              <a:t>deferproc()</a:t>
            </a:r>
            <a:r>
              <a:rPr lang="zh-CN" altLang="en-US"/>
              <a:t>函数调用</a:t>
            </a:r>
            <a:r>
              <a:rPr lang="en-US" altLang="zh-CN"/>
              <a:t>,</a:t>
            </a:r>
            <a:r>
              <a:rPr lang="zh-CN" altLang="en-US"/>
              <a:t>运行时执行</a:t>
            </a:r>
            <a:r>
              <a:rPr lang="en-US" altLang="zh-CN"/>
              <a:t>deferproc()</a:t>
            </a:r>
            <a:r>
              <a:rPr lang="zh-CN" altLang="en-US"/>
              <a:t>函数进行存储</a:t>
            </a:r>
            <a:r>
              <a:rPr lang="en-US" altLang="zh-CN"/>
              <a:t>,</a:t>
            </a:r>
            <a:r>
              <a:rPr lang="zh-CN" altLang="en-US"/>
              <a:t>最后通过</a:t>
            </a:r>
            <a:r>
              <a:rPr lang="en-US" altLang="zh-CN"/>
              <a:t>deferreturn()</a:t>
            </a:r>
            <a:r>
              <a:rPr lang="zh-CN" altLang="en-US"/>
              <a:t>函数取出并执行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35295" y="629285"/>
            <a:ext cx="5055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下面是一段</a:t>
            </a:r>
            <a:r>
              <a:rPr lang="en-US" altLang="zh-CN"/>
              <a:t>Go</a:t>
            </a:r>
            <a:r>
              <a:rPr lang="zh-CN" altLang="en-US"/>
              <a:t>代码</a:t>
            </a:r>
            <a:r>
              <a:rPr lang="en-US" altLang="zh-CN"/>
              <a:t>,</a:t>
            </a:r>
            <a:r>
              <a:rPr lang="zh-CN" altLang="en-US"/>
              <a:t>及其在编译后的伪指令描述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313180"/>
            <a:ext cx="4297680" cy="4739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2169160"/>
            <a:ext cx="2880360" cy="3336925"/>
          </a:xfrm>
          <a:prstGeom prst="rect">
            <a:avLst/>
          </a:prstGeom>
        </p:spPr>
      </p:pic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的数据结构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35330" y="1074420"/>
            <a:ext cx="1674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堆</a:t>
            </a:r>
            <a:r>
              <a:rPr lang="en-US" altLang="zh-CN"/>
              <a:t>defer</a:t>
            </a:r>
            <a:endParaRPr lang="en-US" altLang="zh-CN"/>
          </a:p>
          <a:p>
            <a:r>
              <a:rPr lang="en-US" altLang="zh-CN"/>
              <a:t>heap == true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3712210" y="1733550"/>
            <a:ext cx="1508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goroutine</a:t>
            </a:r>
            <a:endParaRPr lang="en-US" altLang="zh-CN" sz="1200"/>
          </a:p>
          <a:p>
            <a:pPr algn="ctr"/>
            <a:r>
              <a:rPr lang="en-US" altLang="zh-CN" sz="1200"/>
              <a:t>runtime.go</a:t>
            </a:r>
            <a:endParaRPr lang="en-US" altLang="zh-CN" sz="1200"/>
          </a:p>
        </p:txBody>
      </p:sp>
      <p:graphicFrame>
        <p:nvGraphicFramePr>
          <p:cNvPr id="22" name="表格 21"/>
          <p:cNvGraphicFramePr/>
          <p:nvPr>
            <p:custDataLst>
              <p:tags r:id="rId2"/>
            </p:custDataLst>
          </p:nvPr>
        </p:nvGraphicFramePr>
        <p:xfrm>
          <a:off x="3804920" y="2343150"/>
          <a:ext cx="1323340" cy="2037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3340"/>
              </a:tblGrid>
              <a:tr h="442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  <a:tr h="708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_defer *_defer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  <a:tr h="4432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  <a:tr h="442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6339205" y="3104515"/>
            <a:ext cx="1522730" cy="1045210"/>
            <a:chOff x="9850" y="4889"/>
            <a:chExt cx="2398" cy="1646"/>
          </a:xfrm>
        </p:grpSpPr>
        <p:sp>
          <p:nvSpPr>
            <p:cNvPr id="5" name="圆角矩形 4"/>
            <p:cNvSpPr/>
            <p:nvPr/>
          </p:nvSpPr>
          <p:spPr>
            <a:xfrm>
              <a:off x="9850" y="5641"/>
              <a:ext cx="2398" cy="8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_defer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289" y="4889"/>
              <a:ext cx="1348" cy="4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func2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直接箭头连接符 19"/>
          <p:cNvCxnSpPr/>
          <p:nvPr/>
        </p:nvCxnSpPr>
        <p:spPr>
          <a:xfrm>
            <a:off x="5130165" y="3094990"/>
            <a:ext cx="1194435" cy="79629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8616315" y="3104515"/>
            <a:ext cx="1522730" cy="1045210"/>
            <a:chOff x="9850" y="4889"/>
            <a:chExt cx="2398" cy="1646"/>
          </a:xfrm>
        </p:grpSpPr>
        <p:sp>
          <p:nvSpPr>
            <p:cNvPr id="4" name="圆角矩形 3"/>
            <p:cNvSpPr/>
            <p:nvPr/>
          </p:nvSpPr>
          <p:spPr>
            <a:xfrm>
              <a:off x="9850" y="5641"/>
              <a:ext cx="2398" cy="8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_defer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0289" y="4889"/>
              <a:ext cx="1348" cy="4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func1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直接箭头连接符 8"/>
          <p:cNvCxnSpPr/>
          <p:nvPr/>
        </p:nvCxnSpPr>
        <p:spPr>
          <a:xfrm>
            <a:off x="7853680" y="3865880"/>
            <a:ext cx="76263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2170800"/>
            <a:ext cx="2880360" cy="3336925"/>
          </a:xfrm>
          <a:prstGeom prst="rect">
            <a:avLst/>
          </a:prstGeom>
        </p:spPr>
      </p:pic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的数据结构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35330" y="1074420"/>
            <a:ext cx="1645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堆</a:t>
            </a:r>
            <a:r>
              <a:rPr lang="en-US" altLang="zh-CN"/>
              <a:t>defer</a:t>
            </a:r>
            <a:endParaRPr lang="en-US" altLang="zh-CN"/>
          </a:p>
          <a:p>
            <a:r>
              <a:rPr lang="en-US" altLang="zh-CN"/>
              <a:t>heap == true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3712210" y="1733550"/>
            <a:ext cx="1508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goroutine</a:t>
            </a:r>
            <a:endParaRPr lang="en-US" altLang="zh-CN" sz="1200"/>
          </a:p>
          <a:p>
            <a:pPr algn="ctr"/>
            <a:r>
              <a:rPr lang="en-US" altLang="zh-CN" sz="1200"/>
              <a:t>runtime.go</a:t>
            </a:r>
            <a:endParaRPr lang="en-US" altLang="zh-CN" sz="1200"/>
          </a:p>
        </p:txBody>
      </p:sp>
      <p:graphicFrame>
        <p:nvGraphicFramePr>
          <p:cNvPr id="22" name="表格 21"/>
          <p:cNvGraphicFramePr/>
          <p:nvPr>
            <p:custDataLst>
              <p:tags r:id="rId2"/>
            </p:custDataLst>
          </p:nvPr>
        </p:nvGraphicFramePr>
        <p:xfrm>
          <a:off x="3804920" y="2343150"/>
          <a:ext cx="1323340" cy="2037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3340"/>
              </a:tblGrid>
              <a:tr h="442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  <a:tr h="708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_defer *_defer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  <a:tr h="4432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  <a:tr h="442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......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8152130" y="3094990"/>
            <a:ext cx="1522730" cy="1045210"/>
            <a:chOff x="9850" y="4889"/>
            <a:chExt cx="2398" cy="1646"/>
          </a:xfrm>
        </p:grpSpPr>
        <p:sp>
          <p:nvSpPr>
            <p:cNvPr id="5" name="圆角矩形 4"/>
            <p:cNvSpPr/>
            <p:nvPr/>
          </p:nvSpPr>
          <p:spPr>
            <a:xfrm>
              <a:off x="9850" y="5641"/>
              <a:ext cx="2398" cy="8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_defer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289" y="4889"/>
              <a:ext cx="1348" cy="4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func2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直接箭头连接符 19"/>
          <p:cNvCxnSpPr/>
          <p:nvPr/>
        </p:nvCxnSpPr>
        <p:spPr>
          <a:xfrm>
            <a:off x="5130165" y="3094990"/>
            <a:ext cx="591820" cy="73660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429240" y="3094990"/>
            <a:ext cx="1522730" cy="1045210"/>
            <a:chOff x="9850" y="4889"/>
            <a:chExt cx="2398" cy="1646"/>
          </a:xfrm>
        </p:grpSpPr>
        <p:sp>
          <p:nvSpPr>
            <p:cNvPr id="4" name="圆角矩形 3"/>
            <p:cNvSpPr/>
            <p:nvPr/>
          </p:nvSpPr>
          <p:spPr>
            <a:xfrm>
              <a:off x="9850" y="5641"/>
              <a:ext cx="2398" cy="8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_defer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0289" y="4889"/>
              <a:ext cx="1348" cy="4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func1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直接箭头连接符 8"/>
          <p:cNvCxnSpPr/>
          <p:nvPr/>
        </p:nvCxnSpPr>
        <p:spPr>
          <a:xfrm>
            <a:off x="9666605" y="3856355"/>
            <a:ext cx="76263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5735320" y="3094990"/>
            <a:ext cx="1522730" cy="1045210"/>
            <a:chOff x="9850" y="4889"/>
            <a:chExt cx="2398" cy="1646"/>
          </a:xfrm>
        </p:grpSpPr>
        <p:sp>
          <p:nvSpPr>
            <p:cNvPr id="12" name="圆角矩形 11"/>
            <p:cNvSpPr/>
            <p:nvPr/>
          </p:nvSpPr>
          <p:spPr>
            <a:xfrm>
              <a:off x="9850" y="5641"/>
              <a:ext cx="2398" cy="8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_defer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289" y="4889"/>
              <a:ext cx="1348" cy="4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func3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cxnSp>
        <p:nvCxnSpPr>
          <p:cNvPr id="14" name="直接箭头连接符 13"/>
          <p:cNvCxnSpPr>
            <a:endCxn id="5" idx="1"/>
          </p:cNvCxnSpPr>
          <p:nvPr/>
        </p:nvCxnSpPr>
        <p:spPr>
          <a:xfrm>
            <a:off x="7258050" y="3856355"/>
            <a:ext cx="89408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的数据结构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358890" y="2905125"/>
            <a:ext cx="2498090" cy="384111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582410" y="1343025"/>
            <a:ext cx="2050415" cy="398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func1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82410" y="1343025"/>
            <a:ext cx="2050415" cy="398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func2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82410" y="1343025"/>
            <a:ext cx="2050415" cy="398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func3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70475" y="885190"/>
            <a:ext cx="5036185" cy="1532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82410" y="6279515"/>
            <a:ext cx="2070100" cy="466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函数栈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2170800"/>
            <a:ext cx="2880360" cy="33369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35330" y="1074420"/>
            <a:ext cx="1744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栈</a:t>
            </a:r>
            <a:r>
              <a:rPr lang="en-US" altLang="zh-CN"/>
              <a:t>defer</a:t>
            </a:r>
            <a:endParaRPr lang="en-US" altLang="zh-CN"/>
          </a:p>
          <a:p>
            <a:r>
              <a:rPr lang="en-US" altLang="zh-CN"/>
              <a:t>heap == false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031605" y="2974975"/>
            <a:ext cx="69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栈顶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77083 0.601019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9375 0.495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9375 0.399259 " pathEditMode="relative" rAng="0" ptsTypes="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的性能优化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984885" y="734695"/>
            <a:ext cx="1256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发展历程</a:t>
            </a:r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5731510" y="1930400"/>
            <a:ext cx="3980815" cy="1240790"/>
            <a:chOff x="10515" y="1626"/>
            <a:chExt cx="6269" cy="1954"/>
          </a:xfrm>
        </p:grpSpPr>
        <p:sp>
          <p:nvSpPr>
            <p:cNvPr id="11" name="文本框 10"/>
            <p:cNvSpPr txBox="1"/>
            <p:nvPr>
              <p:custDataLst>
                <p:tags r:id="rId1"/>
              </p:custDataLst>
            </p:nvPr>
          </p:nvSpPr>
          <p:spPr>
            <a:xfrm>
              <a:off x="10515" y="1626"/>
              <a:ext cx="5733" cy="10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ym typeface="+mn-ea"/>
                </a:rPr>
                <a:t>stack-allocated:</a:t>
              </a:r>
              <a:r>
                <a:rPr lang="zh-CN" altLang="en-US" sz="1600">
                  <a:sym typeface="+mn-ea"/>
                </a:rPr>
                <a:t>存储在栈上的</a:t>
              </a:r>
              <a:r>
                <a:rPr lang="en-US" altLang="zh-CN" sz="1600">
                  <a:sym typeface="+mn-ea"/>
                </a:rPr>
                <a:t>defer</a:t>
              </a:r>
              <a:endParaRPr lang="en-US" altLang="zh-CN" sz="1600">
                <a:sym typeface="+mn-ea"/>
              </a:endParaRPr>
            </a:p>
            <a:p>
              <a:endParaRPr lang="zh-CN" altLang="en-US"/>
            </a:p>
            <a:p>
              <a:endParaRPr lang="en-US" altLang="zh-CN"/>
            </a:p>
          </p:txBody>
        </p:sp>
        <p:sp>
          <p:nvSpPr>
            <p:cNvPr id="12" name="文本框 11"/>
            <p:cNvSpPr txBox="1"/>
            <p:nvPr>
              <p:custDataLst>
                <p:tags r:id="rId2"/>
              </p:custDataLst>
            </p:nvPr>
          </p:nvSpPr>
          <p:spPr>
            <a:xfrm>
              <a:off x="10515" y="2272"/>
              <a:ext cx="6269" cy="13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>
                  <a:sym typeface="+mn-ea"/>
                </a:rPr>
                <a:t>编译器将</a:t>
              </a:r>
              <a:r>
                <a:rPr lang="en-US" altLang="zh-CN" sz="1400">
                  <a:sym typeface="+mn-ea"/>
                </a:rPr>
                <a:t>defer</a:t>
              </a:r>
              <a:r>
                <a:rPr lang="zh-CN" altLang="en-US" sz="1400">
                  <a:sym typeface="+mn-ea"/>
                </a:rPr>
                <a:t>语句编译成一个</a:t>
              </a:r>
              <a:r>
                <a:rPr lang="en-US" altLang="zh-CN" sz="1400">
                  <a:sym typeface="+mn-ea"/>
                </a:rPr>
                <a:t>deferprocStack()</a:t>
              </a:r>
              <a:r>
                <a:rPr lang="zh-CN" altLang="en-US" sz="1400">
                  <a:sym typeface="+mn-ea"/>
                </a:rPr>
                <a:t>函数调用</a:t>
              </a:r>
              <a:r>
                <a:rPr lang="en-US" altLang="zh-CN" sz="1400">
                  <a:sym typeface="+mn-ea"/>
                </a:rPr>
                <a:t>,</a:t>
              </a:r>
              <a:r>
                <a:rPr lang="zh-CN" altLang="en-US" sz="1400">
                  <a:sym typeface="+mn-ea"/>
                </a:rPr>
                <a:t>编译器会在</a:t>
              </a:r>
              <a:r>
                <a:rPr lang="zh-CN" altLang="en-US" sz="1400">
                  <a:sym typeface="+mn-ea"/>
                </a:rPr>
                <a:t>函数栈帧中预留</a:t>
              </a:r>
              <a:r>
                <a:rPr lang="en-US" altLang="zh-CN" sz="1400">
                  <a:sym typeface="+mn-ea"/>
                </a:rPr>
                <a:t>_defer</a:t>
              </a:r>
              <a:r>
                <a:rPr lang="zh-CN" altLang="en-US" sz="1400">
                  <a:sym typeface="+mn-ea"/>
                </a:rPr>
                <a:t>空间</a:t>
              </a:r>
              <a:r>
                <a:rPr lang="en-US" altLang="zh-CN" sz="1400">
                  <a:sym typeface="+mn-ea"/>
                </a:rPr>
                <a:t>,</a:t>
              </a:r>
              <a:r>
                <a:rPr lang="zh-CN" altLang="en-US" sz="1400">
                  <a:sym typeface="+mn-ea"/>
                </a:rPr>
                <a:t>不用再进行分配</a:t>
              </a:r>
              <a:endParaRPr lang="en-US" altLang="zh-CN" sz="1400">
                <a:sym typeface="+mn-ea"/>
              </a:endParaRPr>
            </a:p>
            <a:p>
              <a:endParaRPr lang="zh-CN" altLang="en-US" sz="1400"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155190" y="1901190"/>
            <a:ext cx="3375660" cy="1469390"/>
            <a:chOff x="3394" y="2994"/>
            <a:chExt cx="5316" cy="2314"/>
          </a:xfrm>
        </p:grpSpPr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3394" y="2994"/>
              <a:ext cx="5238" cy="1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ym typeface="+mn-ea"/>
                </a:rPr>
                <a:t>heap-allocated:</a:t>
              </a:r>
              <a:r>
                <a:rPr lang="zh-CN" altLang="en-US" sz="1600">
                  <a:sym typeface="+mn-ea"/>
                </a:rPr>
                <a:t>存储在堆上的</a:t>
              </a:r>
              <a:r>
                <a:rPr lang="en-US" altLang="zh-CN" sz="1600">
                  <a:sym typeface="+mn-ea"/>
                </a:rPr>
                <a:t>defer</a:t>
              </a:r>
              <a:endParaRPr lang="en-US" altLang="zh-CN" sz="1600">
                <a:sym typeface="+mn-ea"/>
              </a:endParaRPr>
            </a:p>
            <a:p>
              <a:endParaRPr lang="zh-CN" altLang="en-US"/>
            </a:p>
            <a:p>
              <a:endParaRPr lang="en-US" altLang="zh-CN"/>
            </a:p>
          </p:txBody>
        </p:sp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3472" y="3686"/>
              <a:ext cx="5238" cy="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>
                  <a:sym typeface="+mn-ea"/>
                </a:rPr>
                <a:t>编译器将</a:t>
              </a:r>
              <a:r>
                <a:rPr lang="en-US" altLang="zh-CN" sz="1400">
                  <a:sym typeface="+mn-ea"/>
                </a:rPr>
                <a:t>defer</a:t>
              </a:r>
              <a:r>
                <a:rPr lang="zh-CN" altLang="en-US" sz="1400">
                  <a:sym typeface="+mn-ea"/>
                </a:rPr>
                <a:t>语句编译成一个</a:t>
              </a:r>
              <a:r>
                <a:rPr lang="en-US" altLang="zh-CN" sz="1400">
                  <a:sym typeface="+mn-ea"/>
                </a:rPr>
                <a:t>deferproc()</a:t>
              </a:r>
              <a:r>
                <a:rPr lang="zh-CN" altLang="en-US" sz="1400">
                  <a:sym typeface="+mn-ea"/>
                </a:rPr>
                <a:t>函数调用运行时执行</a:t>
              </a:r>
              <a:r>
                <a:rPr lang="en-US" altLang="zh-CN" sz="1400">
                  <a:sym typeface="+mn-ea"/>
                </a:rPr>
                <a:t>deferproc()</a:t>
              </a:r>
              <a:r>
                <a:rPr lang="zh-CN" altLang="en-US" sz="1400">
                  <a:sym typeface="+mn-ea"/>
                </a:rPr>
                <a:t>函数进行存储，最后通过</a:t>
              </a:r>
              <a:r>
                <a:rPr lang="en-US" altLang="zh-CN" sz="1400">
                  <a:sym typeface="+mn-ea"/>
                </a:rPr>
                <a:t>deferreturn()</a:t>
              </a:r>
              <a:r>
                <a:rPr lang="zh-CN" altLang="en-US" sz="1400">
                  <a:sym typeface="+mn-ea"/>
                </a:rPr>
                <a:t>函数取出并执行</a:t>
              </a:r>
              <a:endParaRPr lang="zh-CN" altLang="en-US" sz="1400">
                <a:sym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237740" y="4702810"/>
            <a:ext cx="3201670" cy="1325880"/>
            <a:chOff x="3524" y="7406"/>
            <a:chExt cx="5042" cy="2088"/>
          </a:xfrm>
        </p:grpSpPr>
        <p:sp>
          <p:nvSpPr>
            <p:cNvPr id="22" name="文本框 21"/>
            <p:cNvSpPr txBox="1"/>
            <p:nvPr/>
          </p:nvSpPr>
          <p:spPr>
            <a:xfrm>
              <a:off x="3524" y="7406"/>
              <a:ext cx="197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tx1"/>
                  </a:solidFill>
                  <a:sym typeface="+mn-ea"/>
                </a:rPr>
                <a:t>痛点</a:t>
              </a:r>
              <a:endParaRPr lang="zh-CN" altLang="en-US" b="1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524" y="8334"/>
              <a:ext cx="5042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频繁地堆内存分配以及释放和链表操作开销</a:t>
              </a:r>
              <a:r>
                <a:rPr lang="en-US" altLang="zh-CN" sz="1400"/>
                <a:t>,</a:t>
              </a:r>
              <a:r>
                <a:rPr lang="zh-CN" altLang="en-US" sz="1400"/>
                <a:t>都会带来额外的性能损耗</a:t>
              </a:r>
              <a:r>
                <a:rPr lang="en-US" altLang="zh-CN" sz="1400"/>
                <a:t>,</a:t>
              </a:r>
              <a:r>
                <a:rPr lang="zh-CN" altLang="en-US" sz="1400"/>
                <a:t>即使有</a:t>
              </a:r>
              <a:r>
                <a:rPr lang="en-US" altLang="zh-CN" sz="1400"/>
                <a:t>defer</a:t>
              </a:r>
              <a:r>
                <a:rPr lang="zh-CN" altLang="en-US" sz="1400"/>
                <a:t>池缓解也不行</a:t>
              </a:r>
              <a:endParaRPr lang="zh-CN" altLang="en-US" sz="140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730875" y="3316822"/>
            <a:ext cx="4064635" cy="867108"/>
            <a:chOff x="10514" y="4903"/>
            <a:chExt cx="6401" cy="1575"/>
          </a:xfrm>
        </p:grpSpPr>
        <p:sp>
          <p:nvSpPr>
            <p:cNvPr id="27" name="文本框 26"/>
            <p:cNvSpPr txBox="1"/>
            <p:nvPr/>
          </p:nvSpPr>
          <p:spPr>
            <a:xfrm>
              <a:off x="10514" y="4903"/>
              <a:ext cx="3422" cy="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ym typeface="+mn-ea"/>
                </a:rPr>
                <a:t>带来的优化</a:t>
              </a:r>
              <a:endParaRPr lang="zh-CN" altLang="en-US" b="1">
                <a:sym typeface="+mn-ea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515" y="5481"/>
              <a:ext cx="6400" cy="9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/>
                <a:t>随函数栈帧一起释放</a:t>
              </a:r>
              <a:r>
                <a:rPr lang="en-US" altLang="zh-CN" sz="1400"/>
                <a:t>,</a:t>
              </a:r>
              <a:r>
                <a:rPr lang="zh-CN" altLang="en-US" sz="1400"/>
                <a:t>无需垃圾回收的介入</a:t>
              </a:r>
              <a:endParaRPr lang="zh-CN" altLang="en-US" sz="1400"/>
            </a:p>
            <a:p>
              <a:r>
                <a:rPr lang="zh-CN" altLang="en-US" sz="1400"/>
                <a:t>避免了堆内存的分配和链表指针操作的开销</a:t>
              </a:r>
              <a:endParaRPr lang="zh-CN" altLang="en-US" sz="1400"/>
            </a:p>
            <a:p>
              <a:endParaRPr lang="zh-CN" altLang="en-US" sz="140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732145" y="4375150"/>
            <a:ext cx="4064000" cy="1165860"/>
            <a:chOff x="10723" y="6946"/>
            <a:chExt cx="6400" cy="1836"/>
          </a:xfrm>
        </p:grpSpPr>
        <p:sp>
          <p:nvSpPr>
            <p:cNvPr id="26" name="文本框 25"/>
            <p:cNvSpPr txBox="1"/>
            <p:nvPr/>
          </p:nvSpPr>
          <p:spPr>
            <a:xfrm>
              <a:off x="10723" y="7621"/>
              <a:ext cx="6400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编译器会尽可能的把</a:t>
              </a:r>
              <a:r>
                <a:rPr lang="en-US" altLang="zh-CN" sz="1400"/>
                <a:t>defer</a:t>
              </a:r>
              <a:r>
                <a:rPr lang="zh-CN" altLang="en-US" sz="1400"/>
                <a:t>语句编译成栈类型</a:t>
              </a:r>
              <a:r>
                <a:rPr lang="en-US" altLang="zh-CN" sz="1400"/>
                <a:t>,</a:t>
              </a:r>
              <a:r>
                <a:rPr lang="zh-CN" altLang="en-US" sz="1400"/>
                <a:t>但是由于栈空间有限</a:t>
              </a:r>
              <a:r>
                <a:rPr lang="en-US" altLang="zh-CN" sz="1400"/>
                <a:t>,</a:t>
              </a:r>
              <a:r>
                <a:rPr lang="zh-CN" altLang="en-US" sz="1400"/>
                <a:t>并不能把所有的</a:t>
              </a:r>
              <a:r>
                <a:rPr lang="en-US" altLang="zh-CN" sz="1400"/>
                <a:t>defer</a:t>
              </a:r>
              <a:r>
                <a:rPr lang="zh-CN" altLang="en-US" sz="1400"/>
                <a:t>都存储在栈中</a:t>
              </a:r>
              <a:r>
                <a:rPr lang="en-US" altLang="zh-CN" sz="1400"/>
                <a:t>,</a:t>
              </a:r>
              <a:r>
                <a:rPr lang="zh-CN" altLang="en-US" sz="1400"/>
                <a:t>所以还需要保留堆</a:t>
              </a:r>
              <a:r>
                <a:rPr lang="en-US" altLang="zh-CN" sz="1400"/>
                <a:t>defer</a:t>
              </a:r>
              <a:endParaRPr lang="en-US" altLang="zh-CN" sz="14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723" y="6946"/>
              <a:ext cx="13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痛点</a:t>
              </a:r>
              <a:endParaRPr lang="zh-CN" altLang="en-US" b="1"/>
            </a:p>
          </p:txBody>
        </p:sp>
      </p:grpSp>
      <p:sp>
        <p:nvSpPr>
          <p:cNvPr id="9" name="燕尾形 8"/>
          <p:cNvSpPr/>
          <p:nvPr/>
        </p:nvSpPr>
        <p:spPr>
          <a:xfrm>
            <a:off x="2204720" y="1208405"/>
            <a:ext cx="3296285" cy="503555"/>
          </a:xfrm>
          <a:prstGeom prst="chevron">
            <a:avLst/>
          </a:prstGeom>
          <a:solidFill>
            <a:srgbClr val="069F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Go 1.13</a:t>
            </a:r>
            <a:r>
              <a:rPr lang="zh-CN" altLang="en-US">
                <a:sym typeface="+mn-ea"/>
              </a:rPr>
              <a:t>之前</a:t>
            </a:r>
            <a:endParaRPr lang="zh-CN" altLang="en-US"/>
          </a:p>
        </p:txBody>
      </p:sp>
      <p:sp>
        <p:nvSpPr>
          <p:cNvPr id="13" name="燕尾形 12"/>
          <p:cNvSpPr/>
          <p:nvPr/>
        </p:nvSpPr>
        <p:spPr>
          <a:xfrm>
            <a:off x="5732145" y="1208405"/>
            <a:ext cx="3296285" cy="503555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Go 1.13</a:t>
            </a:r>
            <a:r>
              <a:rPr lang="zh-CN" altLang="en-US">
                <a:sym typeface="+mn-ea"/>
              </a:rPr>
              <a:t>引入</a:t>
            </a:r>
            <a:endParaRPr lang="zh-CN" altLang="en-US"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2216150" y="3429000"/>
            <a:ext cx="3326130" cy="1029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ym typeface="+mn-ea"/>
              </a:rPr>
              <a:t>Go1.12</a:t>
            </a:r>
            <a:r>
              <a:rPr lang="zh-CN" altLang="en-US" sz="1400">
                <a:sym typeface="+mn-ea"/>
              </a:rPr>
              <a:t>引入了</a:t>
            </a:r>
            <a:r>
              <a:rPr lang="en-US" altLang="zh-CN" sz="1400">
                <a:sym typeface="+mn-ea"/>
              </a:rPr>
              <a:t>deferpool,</a:t>
            </a:r>
            <a:r>
              <a:rPr lang="zh-CN" altLang="en-US" sz="1400">
                <a:sym typeface="+mn-ea"/>
              </a:rPr>
              <a:t>可以分配固定规格的结构体</a:t>
            </a:r>
            <a:r>
              <a:rPr lang="en-US" altLang="zh-CN" sz="1400">
                <a:sym typeface="+mn-ea"/>
              </a:rPr>
              <a:t>;</a:t>
            </a:r>
            <a:r>
              <a:rPr lang="zh-CN" altLang="en-US" sz="1400">
                <a:sym typeface="+mn-ea"/>
              </a:rPr>
              <a:t>使用时用池中获取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用完后归还池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通过对象池复用</a:t>
            </a:r>
            <a:r>
              <a:rPr lang="en-US" altLang="zh-CN" sz="1400">
                <a:sym typeface="+mn-ea"/>
              </a:rPr>
              <a:t>defer</a:t>
            </a:r>
            <a:r>
              <a:rPr lang="zh-CN" altLang="en-US" sz="1400">
                <a:sym typeface="+mn-ea"/>
              </a:rPr>
              <a:t>对象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降低内存分配开销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5" grpId="0"/>
      <p:bldP spid="15" grpId="1"/>
      <p:bldP spid="13" grpId="0" animBg="1"/>
      <p:bldP spid="1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的性能优化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62305" y="2542540"/>
            <a:ext cx="326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最初学习的时候怎么理解的呢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05" y="3171190"/>
            <a:ext cx="4354195" cy="22066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460" y="3170555"/>
            <a:ext cx="4002405" cy="2207260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>
            <a:off x="5372100" y="4026535"/>
            <a:ext cx="998220" cy="2667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3044190" y="5573395"/>
            <a:ext cx="5904865" cy="952500"/>
            <a:chOff x="4794" y="7626"/>
            <a:chExt cx="9299" cy="1500"/>
          </a:xfrm>
        </p:grpSpPr>
        <p:sp>
          <p:nvSpPr>
            <p:cNvPr id="14" name="文本框 13"/>
            <p:cNvSpPr txBox="1"/>
            <p:nvPr/>
          </p:nvSpPr>
          <p:spPr>
            <a:xfrm>
              <a:off x="4794" y="8163"/>
              <a:ext cx="80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恭喜你</a:t>
              </a:r>
              <a:r>
                <a:rPr lang="en-US" altLang="zh-CN"/>
                <a:t>!</a:t>
              </a:r>
              <a:r>
                <a:rPr lang="zh-CN" altLang="en-US"/>
                <a:t>发明了</a:t>
              </a:r>
              <a:r>
                <a:rPr lang="en-US" altLang="zh-CN"/>
                <a:t>open-code:</a:t>
              </a:r>
              <a:r>
                <a:rPr lang="zh-CN" altLang="en-US"/>
                <a:t>开放编码类型的</a:t>
              </a:r>
              <a:r>
                <a:rPr lang="en-US" altLang="zh-CN"/>
                <a:t>defer</a:t>
              </a:r>
              <a:endParaRPr lang="en-US" altLang="zh-CN"/>
            </a:p>
          </p:txBody>
        </p:sp>
        <p:pic>
          <p:nvPicPr>
            <p:cNvPr id="15" name="图片 14" descr="耄耋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93" y="7626"/>
              <a:ext cx="1500" cy="1500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736600" y="840740"/>
            <a:ext cx="9287510" cy="975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无论是堆</a:t>
            </a:r>
            <a:r>
              <a:rPr lang="en-US" altLang="zh-CN"/>
              <a:t>defer</a:t>
            </a:r>
            <a:r>
              <a:rPr lang="zh-CN" altLang="en-US"/>
              <a:t>和栈</a:t>
            </a:r>
            <a:r>
              <a:rPr lang="en-US" altLang="zh-CN"/>
              <a:t>defer,</a:t>
            </a:r>
            <a:r>
              <a:rPr lang="zh-CN" altLang="en-US"/>
              <a:t>编译器只能把</a:t>
            </a:r>
            <a:r>
              <a:rPr lang="en-US" altLang="zh-CN"/>
              <a:t>defer</a:t>
            </a:r>
            <a:r>
              <a:rPr lang="zh-CN" altLang="en-US"/>
              <a:t>替换为对应的函数</a:t>
            </a:r>
            <a:r>
              <a:rPr lang="en-US" altLang="zh-CN"/>
              <a:t>,</a:t>
            </a:r>
            <a:r>
              <a:rPr lang="zh-CN" altLang="en-US"/>
              <a:t>堆</a:t>
            </a:r>
            <a:r>
              <a:rPr lang="en-US" altLang="zh-CN"/>
              <a:t>defer</a:t>
            </a:r>
            <a:r>
              <a:rPr lang="zh-CN" altLang="en-US"/>
              <a:t>是</a:t>
            </a:r>
            <a:r>
              <a:rPr lang="en-US" altLang="zh-CN"/>
              <a:t>deferproc()</a:t>
            </a:r>
            <a:r>
              <a:rPr lang="zh-CN" altLang="en-US"/>
              <a:t>函数</a:t>
            </a:r>
            <a:r>
              <a:rPr lang="en-US" altLang="zh-CN"/>
              <a:t>,</a:t>
            </a:r>
            <a:r>
              <a:rPr lang="zh-CN" altLang="en-US"/>
              <a:t>栈</a:t>
            </a:r>
            <a:r>
              <a:rPr lang="en-US" altLang="zh-CN"/>
              <a:t>defer</a:t>
            </a:r>
            <a:r>
              <a:rPr lang="zh-CN" altLang="en-US"/>
              <a:t>是</a:t>
            </a:r>
            <a:r>
              <a:rPr lang="en-US" altLang="zh-CN"/>
              <a:t>deferprocStack()</a:t>
            </a:r>
            <a:r>
              <a:rPr lang="zh-CN" altLang="en-US"/>
              <a:t>函数</a:t>
            </a:r>
            <a:r>
              <a:rPr lang="en-US" altLang="zh-CN"/>
              <a:t>,</a:t>
            </a:r>
            <a:r>
              <a:rPr lang="zh-CN" altLang="en-US"/>
              <a:t>只能是运行的时候调用这些函数</a:t>
            </a:r>
            <a:r>
              <a:rPr lang="en-US" altLang="zh-CN"/>
              <a:t>,</a:t>
            </a:r>
            <a:r>
              <a:rPr lang="zh-CN" altLang="en-US"/>
              <a:t>然后创建</a:t>
            </a:r>
            <a:r>
              <a:rPr lang="en-US" altLang="zh-CN"/>
              <a:t>_defer</a:t>
            </a:r>
            <a:r>
              <a:rPr lang="zh-CN" altLang="en-US"/>
              <a:t>节点并存储</a:t>
            </a:r>
            <a:r>
              <a:rPr lang="en-US" altLang="zh-CN"/>
              <a:t>,</a:t>
            </a:r>
            <a:r>
              <a:rPr lang="zh-CN" altLang="en-US"/>
              <a:t>最后通过</a:t>
            </a:r>
            <a:r>
              <a:rPr lang="en-US" altLang="zh-CN"/>
              <a:t>deferreturn()</a:t>
            </a:r>
            <a:r>
              <a:rPr lang="zh-CN" altLang="en-US"/>
              <a:t>函数取出这些</a:t>
            </a:r>
            <a:r>
              <a:rPr lang="en-US" altLang="zh-CN"/>
              <a:t>_defer</a:t>
            </a:r>
            <a:r>
              <a:rPr lang="zh-CN" altLang="en-US"/>
              <a:t>节点再执行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5330" y="1816100"/>
            <a:ext cx="9136380" cy="703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如果编译器能够把</a:t>
            </a:r>
            <a:r>
              <a:rPr lang="en-US" altLang="zh-CN"/>
              <a:t>defer</a:t>
            </a:r>
            <a:r>
              <a:rPr lang="zh-CN" altLang="en-US"/>
              <a:t>语句直接翻译成相应的代码并插入函数尾部</a:t>
            </a:r>
            <a:r>
              <a:rPr lang="en-US" altLang="zh-CN"/>
              <a:t>,</a:t>
            </a:r>
            <a:r>
              <a:rPr lang="zh-CN" altLang="en-US"/>
              <a:t>那么就会节省</a:t>
            </a:r>
            <a:r>
              <a:rPr lang="en-US" altLang="zh-CN"/>
              <a:t>_defer</a:t>
            </a:r>
            <a:r>
              <a:rPr lang="zh-CN" altLang="en-US"/>
              <a:t>节点转储的代价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的性能优化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35330" y="986790"/>
            <a:ext cx="9336405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open-coded defer(</a:t>
            </a:r>
            <a:r>
              <a:rPr lang="zh-CN" altLang="en-US" b="1"/>
              <a:t>开放编码延迟调用</a:t>
            </a:r>
            <a:r>
              <a:rPr lang="en-US" altLang="zh-CN" b="1"/>
              <a:t>)</a:t>
            </a:r>
            <a:r>
              <a:rPr lang="en-US" altLang="zh-CN"/>
              <a:t>:</a:t>
            </a:r>
            <a:r>
              <a:rPr lang="zh-CN" altLang="en-US" sz="1600"/>
              <a:t>编译器通过</a:t>
            </a:r>
            <a:r>
              <a:rPr lang="en-US" altLang="zh-CN" sz="1600"/>
              <a:t> “</a:t>
            </a:r>
            <a:r>
              <a:rPr lang="zh-CN" altLang="en-US" sz="1600" b="1"/>
              <a:t>静态重排代码</a:t>
            </a:r>
            <a:r>
              <a:rPr lang="en-US" altLang="zh-CN" sz="1600"/>
              <a:t>” </a:t>
            </a:r>
            <a:r>
              <a:rPr lang="zh-CN" altLang="en-US" sz="1600"/>
              <a:t>替代了</a:t>
            </a:r>
            <a:r>
              <a:rPr lang="en-US" altLang="zh-CN" sz="1600"/>
              <a:t> “</a:t>
            </a:r>
            <a:r>
              <a:rPr lang="zh-CN" altLang="en-US" sz="1600" b="1"/>
              <a:t>动态链表遍历</a:t>
            </a:r>
            <a:r>
              <a:rPr lang="en-US" altLang="zh-CN" sz="1600"/>
              <a:t>”</a:t>
            </a:r>
            <a:r>
              <a:rPr lang="zh-CN" altLang="en-US" sz="1600"/>
              <a:t>，用编译期的确定性逻辑保证了</a:t>
            </a:r>
            <a:r>
              <a:rPr lang="en-US" altLang="zh-CN" sz="1600"/>
              <a:t> “</a:t>
            </a:r>
            <a:r>
              <a:rPr lang="zh-CN" altLang="en-US" sz="1600"/>
              <a:t>后进先出</a:t>
            </a:r>
            <a:r>
              <a:rPr lang="en-US" altLang="zh-CN" sz="1600"/>
              <a:t>”</a:t>
            </a:r>
            <a:r>
              <a:rPr lang="zh-CN" altLang="en-US" sz="1600"/>
              <a:t>（</a:t>
            </a:r>
            <a:r>
              <a:rPr lang="en-US" altLang="zh-CN" sz="1600"/>
              <a:t>LIFO</a:t>
            </a:r>
            <a:r>
              <a:rPr lang="zh-CN" altLang="en-US" sz="1600"/>
              <a:t>），省去了链表操作的开销</a:t>
            </a:r>
            <a:r>
              <a:rPr lang="en-US" altLang="zh-CN" sz="1600"/>
              <a:t>,</a:t>
            </a:r>
            <a:r>
              <a:rPr lang="zh-CN" altLang="en-US" sz="1600"/>
              <a:t>避免了</a:t>
            </a:r>
            <a:r>
              <a:rPr lang="en-US" altLang="zh-CN" sz="1600"/>
              <a:t>_defer</a:t>
            </a:r>
            <a:r>
              <a:rPr lang="zh-CN" altLang="en-US" sz="1600"/>
              <a:t>结构体的分配和</a:t>
            </a:r>
            <a:r>
              <a:rPr lang="zh-CN" altLang="en-US" sz="1600">
                <a:solidFill>
                  <a:srgbClr val="FF0000"/>
                </a:solidFill>
              </a:rPr>
              <a:t>栈操作</a:t>
            </a:r>
            <a:r>
              <a:rPr lang="en-US" altLang="zh-CN" sz="1600"/>
              <a:t>,</a:t>
            </a:r>
            <a:r>
              <a:rPr lang="zh-CN" altLang="en-US" sz="1600"/>
              <a:t>开销极低</a:t>
            </a:r>
            <a:r>
              <a:rPr lang="en-US" altLang="zh-CN" sz="1600"/>
              <a:t>,</a:t>
            </a:r>
            <a:r>
              <a:rPr lang="zh-CN" altLang="en-US" sz="1600"/>
              <a:t>接近无</a:t>
            </a:r>
            <a:r>
              <a:rPr lang="en-US" altLang="zh-CN" sz="1600"/>
              <a:t>defer</a:t>
            </a:r>
            <a:r>
              <a:rPr lang="zh-CN" altLang="en-US" sz="1600"/>
              <a:t>的原生代码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735330" y="2637790"/>
            <a:ext cx="175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静态重排代码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389505" y="2385695"/>
            <a:ext cx="6849110" cy="1854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静态分析</a:t>
            </a:r>
            <a:r>
              <a:rPr lang="en-US" altLang="zh-CN"/>
              <a:t>:</a:t>
            </a:r>
            <a:r>
              <a:rPr lang="zh-CN" altLang="en-US"/>
              <a:t>分析函数中</a:t>
            </a:r>
            <a:r>
              <a:rPr lang="en-US" altLang="zh-CN"/>
              <a:t>defer</a:t>
            </a:r>
            <a:r>
              <a:rPr lang="zh-CN" altLang="en-US"/>
              <a:t>的数量</a:t>
            </a:r>
            <a:r>
              <a:rPr lang="en-US" altLang="zh-CN"/>
              <a:t>,</a:t>
            </a:r>
            <a:r>
              <a:rPr lang="zh-CN" altLang="en-US"/>
              <a:t>位置和执行条件</a:t>
            </a:r>
            <a:r>
              <a:rPr lang="en-US" altLang="zh-CN"/>
              <a:t>,</a:t>
            </a:r>
            <a:r>
              <a:rPr lang="zh-CN" altLang="en-US"/>
              <a:t>判断是否可以用静态方式处理</a:t>
            </a:r>
            <a:r>
              <a:rPr lang="en-US" altLang="zh-CN"/>
              <a:t>(</a:t>
            </a:r>
            <a:r>
              <a:rPr lang="zh-CN" altLang="en-US"/>
              <a:t>通常适用于</a:t>
            </a:r>
            <a:r>
              <a:rPr lang="en-US" altLang="zh-CN"/>
              <a:t>defer</a:t>
            </a:r>
            <a:r>
              <a:rPr lang="zh-CN" altLang="en-US"/>
              <a:t>数量较少且执行路径明确的场景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代码重排</a:t>
            </a:r>
            <a:r>
              <a:rPr lang="en-US" altLang="zh-CN"/>
              <a:t>:</a:t>
            </a:r>
            <a:r>
              <a:rPr lang="zh-CN" altLang="en-US"/>
              <a:t>直接将</a:t>
            </a:r>
            <a:r>
              <a:rPr lang="en-US" altLang="zh-CN"/>
              <a:t>defer</a:t>
            </a:r>
            <a:r>
              <a:rPr lang="zh-CN" altLang="en-US"/>
              <a:t>对应的延迟调用逻辑</a:t>
            </a:r>
            <a:r>
              <a:rPr lang="en-US" altLang="zh-CN"/>
              <a:t>,”</a:t>
            </a:r>
            <a:r>
              <a:rPr lang="zh-CN" altLang="en-US"/>
              <a:t>提前</a:t>
            </a:r>
            <a:r>
              <a:rPr lang="en-US" altLang="zh-CN"/>
              <a:t>”</a:t>
            </a:r>
            <a:r>
              <a:rPr lang="zh-CN" altLang="en-US"/>
              <a:t>插入到函数所有可能的返回路径</a:t>
            </a:r>
            <a:r>
              <a:rPr lang="en-US" altLang="zh-CN"/>
              <a:t>(</a:t>
            </a:r>
            <a:r>
              <a:rPr lang="zh-CN" altLang="en-US"/>
              <a:t>比如</a:t>
            </a:r>
            <a:r>
              <a:rPr lang="en-US" altLang="zh-CN"/>
              <a:t>return</a:t>
            </a:r>
            <a:r>
              <a:rPr lang="zh-CN" altLang="en-US"/>
              <a:t>语句前</a:t>
            </a:r>
            <a:r>
              <a:rPr lang="en-US" altLang="zh-CN"/>
              <a:t>,panic</a:t>
            </a:r>
            <a:r>
              <a:rPr lang="zh-CN" altLang="en-US"/>
              <a:t>处理之前等</a:t>
            </a:r>
            <a:r>
              <a:rPr lang="en-US" altLang="zh-CN"/>
              <a:t>)</a:t>
            </a:r>
            <a:r>
              <a:rPr lang="zh-CN" altLang="en-US"/>
              <a:t>的位置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35330" y="5069840"/>
            <a:ext cx="175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动态链表操作</a:t>
            </a:r>
            <a:r>
              <a:rPr lang="en-US" altLang="zh-CN" b="1"/>
              <a:t>: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2494915" y="4947920"/>
            <a:ext cx="6849110" cy="828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/>
              <a:t>每一次访问时可能根据指针动态地确定下一个要访问的节点位置</a:t>
            </a:r>
            <a:r>
              <a:rPr lang="en-US" altLang="zh-CN"/>
              <a:t>,</a:t>
            </a:r>
            <a:r>
              <a:rPr lang="zh-CN" altLang="en-US"/>
              <a:t>有一定的开销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defer</a:t>
              </a:r>
              <a:r>
                <a:rPr lang="zh-CN" altLang="en-US">
                  <a:solidFill>
                    <a:schemeClr val="tx1"/>
                  </a:solidFill>
                </a:rPr>
                <a:t>的性能优化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87730" y="924560"/>
            <a:ext cx="6483350" cy="584200"/>
            <a:chOff x="2140" y="2046"/>
            <a:chExt cx="10210" cy="920"/>
          </a:xfrm>
        </p:grpSpPr>
        <p:sp>
          <p:nvSpPr>
            <p:cNvPr id="2" name="文本框 1"/>
            <p:cNvSpPr txBox="1"/>
            <p:nvPr/>
          </p:nvSpPr>
          <p:spPr>
            <a:xfrm>
              <a:off x="2796" y="2046"/>
              <a:ext cx="9555" cy="9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既然这么好用</a:t>
              </a:r>
              <a:r>
                <a:rPr lang="en-US" altLang="zh-CN"/>
                <a:t>,defer</a:t>
              </a:r>
              <a:r>
                <a:rPr lang="zh-CN" altLang="en-US"/>
                <a:t>语句可以一直被处理为开放编码类型吗</a:t>
              </a:r>
              <a:r>
                <a:rPr lang="en-US" altLang="zh-CN"/>
                <a:t>?</a:t>
              </a:r>
              <a:endParaRPr lang="en-US" altLang="zh-CN"/>
            </a:p>
          </p:txBody>
        </p:sp>
        <p:pic>
          <p:nvPicPr>
            <p:cNvPr id="3" name="图片 2" descr="3cbfbc026753828b04516372180bde4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40" y="2046"/>
              <a:ext cx="656" cy="651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887730" y="1509395"/>
            <a:ext cx="7941945" cy="2153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  <a:p>
            <a:r>
              <a:rPr lang="zh-CN" altLang="en-US">
                <a:sym typeface="+mn-ea"/>
              </a:rPr>
              <a:t>以下场景不能被处理成开放编码类型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编译的时候禁用了编译器优化</a:t>
            </a:r>
            <a:r>
              <a:rPr lang="en-US" altLang="zh-CN"/>
              <a:t>,</a:t>
            </a:r>
            <a:r>
              <a:rPr lang="zh-CN" altLang="en-US"/>
              <a:t>即</a:t>
            </a:r>
            <a:r>
              <a:rPr lang="en-US" altLang="zh-CN"/>
              <a:t> -gcflags="-N -l"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defer</a:t>
            </a:r>
            <a:r>
              <a:rPr lang="zh-CN" altLang="en-US"/>
              <a:t>出现在循环语句中</a:t>
            </a:r>
            <a:r>
              <a:rPr lang="en-US" altLang="zh-CN"/>
              <a:t>:defer</a:t>
            </a:r>
            <a:r>
              <a:rPr lang="zh-CN" altLang="en-US"/>
              <a:t>数量取决于运行时的循环次数</a:t>
            </a:r>
            <a:r>
              <a:rPr lang="en-US" altLang="zh-CN"/>
              <a:t>,</a:t>
            </a:r>
            <a:r>
              <a:rPr lang="zh-CN" altLang="en-US"/>
              <a:t>无法静态确定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en-US" altLang="zh-CN"/>
              <a:t>defer</a:t>
            </a:r>
            <a:r>
              <a:rPr lang="zh-CN" altLang="en-US"/>
              <a:t>出现在条件判断内</a:t>
            </a:r>
            <a:r>
              <a:rPr lang="en-US" altLang="zh-CN"/>
              <a:t>:defer</a:t>
            </a:r>
            <a:r>
              <a:rPr lang="zh-CN" altLang="en-US"/>
              <a:t>是否执行取决于运行时的</a:t>
            </a:r>
            <a:r>
              <a:rPr lang="en-US" altLang="zh-CN"/>
              <a:t>flag</a:t>
            </a:r>
            <a:r>
              <a:rPr lang="zh-CN" altLang="en-US"/>
              <a:t>值</a:t>
            </a:r>
            <a:r>
              <a:rPr lang="en-US" altLang="zh-CN"/>
              <a:t>,</a:t>
            </a:r>
            <a:r>
              <a:rPr lang="zh-CN" altLang="en-US"/>
              <a:t>顺序不确定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单个函数中</a:t>
            </a:r>
            <a:r>
              <a:rPr lang="en-US" altLang="zh-CN"/>
              <a:t>defer</a:t>
            </a:r>
            <a:r>
              <a:rPr lang="zh-CN" altLang="en-US"/>
              <a:t>出现了</a:t>
            </a:r>
            <a:r>
              <a:rPr lang="en-US" altLang="zh-CN"/>
              <a:t>8</a:t>
            </a:r>
            <a:r>
              <a:rPr lang="zh-CN" altLang="en-US"/>
              <a:t>个以上</a:t>
            </a:r>
            <a:r>
              <a:rPr lang="en-US" altLang="zh-CN"/>
              <a:t>,</a:t>
            </a:r>
            <a:r>
              <a:rPr lang="zh-CN" altLang="en-US"/>
              <a:t>或者</a:t>
            </a:r>
            <a:r>
              <a:rPr lang="en-US" altLang="zh-CN"/>
              <a:t> return</a:t>
            </a:r>
            <a:r>
              <a:rPr lang="zh-CN" altLang="en-US"/>
              <a:t>语句数</a:t>
            </a:r>
            <a:r>
              <a:rPr lang="en-US" altLang="zh-CN"/>
              <a:t>*defer</a:t>
            </a:r>
            <a:r>
              <a:rPr lang="zh-CN" altLang="en-US"/>
              <a:t>语句数</a:t>
            </a:r>
            <a:r>
              <a:rPr lang="en-US" altLang="zh-CN"/>
              <a:t> &gt; 15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46455" y="3522345"/>
            <a:ext cx="563499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可以通过</a:t>
            </a:r>
            <a:r>
              <a:rPr lang="en-US" altLang="zh-CN"/>
              <a:t>go tool compile -S main.go &gt; aaa.txt</a:t>
            </a:r>
            <a:r>
              <a:rPr lang="zh-CN"/>
              <a:t>来验证</a:t>
            </a:r>
            <a:endParaRPr lang="zh-CN"/>
          </a:p>
          <a:p>
            <a:endParaRPr lang="zh-CN"/>
          </a:p>
          <a:p>
            <a:endParaRPr lang="zh-CN"/>
          </a:p>
        </p:txBody>
      </p:sp>
      <p:sp>
        <p:nvSpPr>
          <p:cNvPr id="16" name="文本框 15"/>
          <p:cNvSpPr txBox="1"/>
          <p:nvPr/>
        </p:nvSpPr>
        <p:spPr>
          <a:xfrm>
            <a:off x="956310" y="4107180"/>
            <a:ext cx="7385685" cy="1478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给我们的开发启示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单个函数中如果存在过多的</a:t>
            </a:r>
            <a:r>
              <a:rPr lang="en-US" altLang="zh-CN"/>
              <a:t>defer,</a:t>
            </a:r>
            <a:r>
              <a:rPr lang="zh-CN" altLang="en-US"/>
              <a:t>那么可以考虑拆分函数</a:t>
            </a:r>
            <a:endParaRPr lang="zh-CN" altLang="en-US"/>
          </a:p>
          <a:p>
            <a:r>
              <a:rPr lang="zh-CN" altLang="en-US"/>
              <a:t>单个函数中如果存在过多的</a:t>
            </a:r>
            <a:r>
              <a:rPr lang="en-US" altLang="zh-CN"/>
              <a:t>return</a:t>
            </a:r>
            <a:r>
              <a:rPr lang="zh-CN" altLang="en-US"/>
              <a:t>语句</a:t>
            </a:r>
            <a:r>
              <a:rPr lang="en-US" altLang="zh-CN"/>
              <a:t>,</a:t>
            </a:r>
            <a:r>
              <a:rPr lang="zh-CN" altLang="en-US"/>
              <a:t>那么需要控制</a:t>
            </a:r>
            <a:r>
              <a:rPr lang="en-US" altLang="zh-CN"/>
              <a:t>defer</a:t>
            </a:r>
            <a:r>
              <a:rPr lang="zh-CN" altLang="en-US"/>
              <a:t>的使用数量</a:t>
            </a:r>
            <a:endParaRPr lang="zh-CN" altLang="en-US"/>
          </a:p>
          <a:p>
            <a:r>
              <a:rPr lang="zh-CN" altLang="en-US"/>
              <a:t>在循环中使用</a:t>
            </a:r>
            <a:r>
              <a:rPr lang="en-US" altLang="zh-CN"/>
              <a:t>defer</a:t>
            </a:r>
            <a:r>
              <a:rPr lang="zh-CN" altLang="en-US"/>
              <a:t>语句需要慎重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2" grpId="0"/>
      <p:bldP spid="1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代码演示</a:t>
              </a:r>
              <a:endParaRPr lang="zh-CN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30" y="2240280"/>
            <a:ext cx="3411220" cy="23774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880" y="2240280"/>
            <a:ext cx="3444240" cy="2377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87730" y="1223645"/>
            <a:ext cx="3069590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不同类型的</a:t>
            </a:r>
            <a:r>
              <a:rPr lang="en-US" altLang="zh-CN" sz="2400"/>
              <a:t>defer</a:t>
            </a:r>
            <a:endParaRPr lang="en-US" altLang="zh-CN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085" y="2239645"/>
            <a:ext cx="3348990" cy="23780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代码演示</a:t>
              </a:r>
              <a:endParaRPr lang="zh-CN">
                <a:solidFill>
                  <a:schemeClr val="tx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564515" y="1223645"/>
            <a:ext cx="435165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不同类型的</a:t>
            </a:r>
            <a:r>
              <a:rPr lang="en-US" altLang="zh-CN" sz="2400"/>
              <a:t>defer</a:t>
            </a:r>
            <a:r>
              <a:rPr lang="zh-CN" altLang="en-US" sz="2400"/>
              <a:t>的性能测试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7345" y="1191260"/>
            <a:ext cx="3612515" cy="1686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0" y="3324860"/>
            <a:ext cx="3616960" cy="12198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00" y="5060315"/>
            <a:ext cx="3673475" cy="12249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369435" y="2106295"/>
            <a:ext cx="1824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原生</a:t>
            </a:r>
            <a:r>
              <a:rPr lang="en-US" altLang="zh-CN"/>
              <a:t>defer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369435" y="3676650"/>
            <a:ext cx="1633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没有</a:t>
            </a:r>
            <a:r>
              <a:rPr lang="en-US" altLang="zh-CN"/>
              <a:t>defer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369435" y="5443220"/>
            <a:ext cx="1859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开放编码</a:t>
            </a:r>
            <a:r>
              <a:rPr lang="en-US" altLang="zh-CN"/>
              <a:t>defer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代码演示</a:t>
              </a:r>
              <a:endParaRPr lang="zh-CN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87730" y="12522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延迟函数参数的确定</a:t>
            </a:r>
            <a:r>
              <a:rPr lang="en-US" altLang="zh-CN"/>
              <a:t>(defer</a:t>
            </a:r>
            <a:r>
              <a:rPr lang="zh-CN" altLang="en-US"/>
              <a:t>预计算</a:t>
            </a:r>
            <a:r>
              <a:rPr lang="en-US" altLang="zh-CN"/>
              <a:t>)</a:t>
            </a:r>
            <a:endParaRPr lang="en-US" altLang="zh-CN"/>
          </a:p>
        </p:txBody>
      </p:sp>
      <p:grpSp>
        <p:nvGrpSpPr>
          <p:cNvPr id="13" name="组合 12"/>
          <p:cNvGrpSpPr/>
          <p:nvPr/>
        </p:nvGrpSpPr>
        <p:grpSpPr>
          <a:xfrm>
            <a:off x="313055" y="1891030"/>
            <a:ext cx="5455920" cy="3305175"/>
            <a:chOff x="1110" y="4194"/>
            <a:chExt cx="8592" cy="520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10" y="4194"/>
              <a:ext cx="8592" cy="2772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0" y="7143"/>
              <a:ext cx="8544" cy="2256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5939790" y="2425700"/>
            <a:ext cx="1866900" cy="2132330"/>
            <a:chOff x="10650" y="5076"/>
            <a:chExt cx="2940" cy="335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0" y="5076"/>
              <a:ext cx="1800" cy="64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50" y="7594"/>
              <a:ext cx="2940" cy="840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b="24029"/>
          <a:stretch>
            <a:fillRect/>
          </a:stretch>
        </p:blipFill>
        <p:spPr>
          <a:xfrm>
            <a:off x="7528560" y="629285"/>
            <a:ext cx="4165600" cy="2810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t="75971"/>
          <a:stretch>
            <a:fillRect/>
          </a:stretch>
        </p:blipFill>
        <p:spPr>
          <a:xfrm>
            <a:off x="7528560" y="4984115"/>
            <a:ext cx="4165600" cy="889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07985" y="3763010"/>
            <a:ext cx="4064000" cy="795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先确定参数</a:t>
            </a:r>
            <a:endParaRPr lang="zh-CN" altLang="en-US" sz="1400"/>
          </a:p>
          <a:p>
            <a:r>
              <a:rPr lang="en-US" altLang="zh-CN" sz="1400"/>
              <a:t>defer calc(“AA”,1,3)</a:t>
            </a:r>
            <a:endParaRPr lang="en-US" altLang="zh-CN" sz="1400"/>
          </a:p>
          <a:p>
            <a:r>
              <a:rPr lang="en-US" altLang="zh-CN" sz="1400"/>
              <a:t>defer calc(“BB”,10,12)</a:t>
            </a:r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代码演示</a:t>
              </a:r>
              <a:endParaRPr lang="zh-CN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87730" y="1252220"/>
            <a:ext cx="1485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拦截</a:t>
            </a:r>
            <a:r>
              <a:rPr lang="en-US" altLang="zh-CN"/>
              <a:t>panic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6845" y="1532255"/>
            <a:ext cx="5062855" cy="48202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" name="组合 49"/>
          <p:cNvGrpSpPr/>
          <p:nvPr/>
        </p:nvGrpSpPr>
        <p:grpSpPr>
          <a:xfrm>
            <a:off x="735330" y="255905"/>
            <a:ext cx="2262505" cy="373380"/>
            <a:chOff x="1158" y="403"/>
            <a:chExt cx="3563" cy="588"/>
          </a:xfrm>
        </p:grpSpPr>
        <p:sp>
          <p:nvSpPr>
            <p:cNvPr id="7" name="矩形 6"/>
            <p:cNvSpPr/>
            <p:nvPr/>
          </p:nvSpPr>
          <p:spPr>
            <a:xfrm>
              <a:off x="1158" y="403"/>
              <a:ext cx="240" cy="5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397" y="403"/>
              <a:ext cx="3324" cy="588"/>
            </a:xfrm>
            <a:prstGeom prst="rect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代码演示</a:t>
              </a:r>
              <a:endParaRPr lang="zh-CN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35330" y="918845"/>
            <a:ext cx="3261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延迟函数操作值函数的返回值</a:t>
            </a:r>
            <a:endParaRPr 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475" y="2251710"/>
            <a:ext cx="3566160" cy="2255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2217420"/>
            <a:ext cx="3474720" cy="2423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65" y="2217420"/>
            <a:ext cx="3048000" cy="2453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75760" y="1357630"/>
            <a:ext cx="3587750" cy="1016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/>
              <a:t>感谢您的观看</a:t>
            </a:r>
            <a:endParaRPr lang="zh-CN" altLang="en-US" sz="4000"/>
          </a:p>
        </p:txBody>
      </p:sp>
      <p:sp>
        <p:nvSpPr>
          <p:cNvPr id="2" name="文本框 1"/>
          <p:cNvSpPr txBox="1"/>
          <p:nvPr/>
        </p:nvSpPr>
        <p:spPr>
          <a:xfrm>
            <a:off x="1967865" y="3972560"/>
            <a:ext cx="6843395" cy="169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资料参考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https://www.liwenzhou.com/posts/Go/function/#c-8-2</a:t>
            </a:r>
            <a:endParaRPr lang="en-US" altLang="zh-CN"/>
          </a:p>
          <a:p>
            <a:r>
              <a:rPr lang="zh-CN" altLang="en-US">
                <a:sym typeface="+mn-ea"/>
              </a:rPr>
              <a:t>《</a:t>
            </a:r>
            <a:r>
              <a:rPr lang="en-US" altLang="zh-CN">
                <a:sym typeface="+mn-ea"/>
              </a:rPr>
              <a:t>Go</a:t>
            </a:r>
            <a:r>
              <a:rPr lang="zh-CN" altLang="en-US">
                <a:sym typeface="+mn-ea"/>
              </a:rPr>
              <a:t>语言精进之路》</a:t>
            </a:r>
            <a:endParaRPr lang="zh-CN" altLang="en-US"/>
          </a:p>
          <a:p>
            <a:r>
              <a:rPr lang="zh-CN" altLang="en-US"/>
              <a:t>《</a:t>
            </a:r>
            <a:r>
              <a:rPr lang="en-US" altLang="zh-CN">
                <a:sym typeface="+mn-ea"/>
              </a:rPr>
              <a:t>Go</a:t>
            </a:r>
            <a:r>
              <a:rPr lang="zh-CN" altLang="en-US">
                <a:sym typeface="+mn-ea"/>
              </a:rPr>
              <a:t>专家编程</a:t>
            </a:r>
            <a:r>
              <a:rPr lang="zh-CN" altLang="en-US"/>
              <a:t>》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*160"/>
  <p:tag name="TABLE_ENDDRAG_RECT" val="281*220*89*160"/>
</p:tagLst>
</file>

<file path=ppt/tags/tag2.xml><?xml version="1.0" encoding="utf-8"?>
<p:tagLst xmlns:p="http://schemas.openxmlformats.org/presentationml/2006/main">
  <p:tag name="TABLE_ENDDRAG_ORIGIN_RECT" val="89*160"/>
  <p:tag name="TABLE_ENDDRAG_RECT" val="281*220*89*160"/>
</p:tagLst>
</file>

<file path=ppt/tags/tag3.xml><?xml version="1.0" encoding="utf-8"?>
<p:tagLst xmlns:p="http://schemas.openxmlformats.org/presentationml/2006/main">
  <p:tag name="KSO_WM_DIAGRAM_VIRTUALLY_FRAME" val="{&quot;height&quot;:224.35,&quot;left&quot;:57.9,&quot;top&quot;:145.5,&quot;width&quot;:680.85}"/>
</p:tagLst>
</file>

<file path=ppt/tags/tag4.xml><?xml version="1.0" encoding="utf-8"?>
<p:tagLst xmlns:p="http://schemas.openxmlformats.org/presentationml/2006/main">
  <p:tag name="KSO_WM_DIAGRAM_VIRTUALLY_FRAME" val="{&quot;height&quot;:224.35,&quot;left&quot;:57.9,&quot;top&quot;:145.5,&quot;width&quot;:680.85}"/>
</p:tagLst>
</file>

<file path=ppt/tags/tag5.xml><?xml version="1.0" encoding="utf-8"?>
<p:tagLst xmlns:p="http://schemas.openxmlformats.org/presentationml/2006/main">
  <p:tag name="KSO_WM_DIAGRAM_VIRTUALLY_FRAME" val="{&quot;height&quot;:224.35,&quot;left&quot;:57.9,&quot;top&quot;:145.5,&quot;width&quot;:680.85}"/>
</p:tagLst>
</file>

<file path=ppt/tags/tag6.xml><?xml version="1.0" encoding="utf-8"?>
<p:tagLst xmlns:p="http://schemas.openxmlformats.org/presentationml/2006/main">
  <p:tag name="KSO_WM_DIAGRAM_VIRTUALLY_FRAME" val="{&quot;height&quot;:224.35,&quot;left&quot;:57.9,&quot;top&quot;:145.5,&quot;width&quot;:680.85}"/>
</p:tagLst>
</file>

<file path=ppt/tags/tag7.xml><?xml version="1.0" encoding="utf-8"?>
<p:tagLst xmlns:p="http://schemas.openxmlformats.org/presentationml/2006/main">
  <p:tag name="KSO_WM_DIAGRAM_VIRTUALLY_FRAME" val="{&quot;height&quot;:224.35,&quot;left&quot;:57.9,&quot;top&quot;:145.5,&quot;width&quot;:680.8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3191</Words>
  <Application>WPS 演示</Application>
  <PresentationFormat>宽屏</PresentationFormat>
  <Paragraphs>296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由于延迟调用的特性,非常方便地处理资源释放问题, 比如:资源释放(文件关闭,解锁),流程控制(wait.Group);异常处理(recover)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fcy</dc:creator>
  <cp:lastModifiedBy>Earthling</cp:lastModifiedBy>
  <cp:revision>36</cp:revision>
  <dcterms:created xsi:type="dcterms:W3CDTF">2023-08-09T12:44:00Z</dcterms:created>
  <dcterms:modified xsi:type="dcterms:W3CDTF">2025-11-03T04:37:23Z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0FFB374EF87741258E9EC42A4DEF22FC_13</vt:lpwstr>
  </property>
</Properties>
</file>